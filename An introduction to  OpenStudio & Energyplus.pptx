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48"/>
  </p:notesMasterIdLst>
  <p:handoutMasterIdLst>
    <p:handoutMasterId r:id="rId49"/>
  </p:handoutMasterIdLst>
  <p:sldIdLst>
    <p:sldId id="268" r:id="rId5"/>
    <p:sldId id="317" r:id="rId6"/>
    <p:sldId id="269" r:id="rId7"/>
    <p:sldId id="289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6" r:id="rId16"/>
    <p:sldId id="287" r:id="rId17"/>
    <p:sldId id="291" r:id="rId18"/>
    <p:sldId id="305" r:id="rId19"/>
    <p:sldId id="307" r:id="rId20"/>
    <p:sldId id="308" r:id="rId21"/>
    <p:sldId id="309" r:id="rId22"/>
    <p:sldId id="306" r:id="rId23"/>
    <p:sldId id="310" r:id="rId24"/>
    <p:sldId id="311" r:id="rId25"/>
    <p:sldId id="312" r:id="rId26"/>
    <p:sldId id="313" r:id="rId27"/>
    <p:sldId id="290" r:id="rId28"/>
    <p:sldId id="292" r:id="rId29"/>
    <p:sldId id="293" r:id="rId30"/>
    <p:sldId id="294" r:id="rId31"/>
    <p:sldId id="295" r:id="rId32"/>
    <p:sldId id="296" r:id="rId33"/>
    <p:sldId id="298" r:id="rId34"/>
    <p:sldId id="299" r:id="rId35"/>
    <p:sldId id="300" r:id="rId36"/>
    <p:sldId id="304" r:id="rId37"/>
    <p:sldId id="320" r:id="rId38"/>
    <p:sldId id="318" r:id="rId39"/>
    <p:sldId id="319" r:id="rId40"/>
    <p:sldId id="316" r:id="rId41"/>
    <p:sldId id="301" r:id="rId42"/>
    <p:sldId id="302" r:id="rId43"/>
    <p:sldId id="303" r:id="rId44"/>
    <p:sldId id="314" r:id="rId45"/>
    <p:sldId id="315" r:id="rId46"/>
    <p:sldId id="32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6433" autoAdjust="0"/>
  </p:normalViewPr>
  <p:slideViewPr>
    <p:cSldViewPr snapToGrid="0">
      <p:cViewPr varScale="1">
        <p:scale>
          <a:sx n="109" d="100"/>
          <a:sy n="109" d="100"/>
        </p:scale>
        <p:origin x="804" y="96"/>
      </p:cViewPr>
      <p:guideLst/>
    </p:cSldViewPr>
  </p:slideViewPr>
  <p:outlineViewPr>
    <p:cViewPr>
      <p:scale>
        <a:sx n="33" d="100"/>
        <a:sy n="33" d="100"/>
      </p:scale>
      <p:origin x="0" y="-3981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AA17F-CB06-445B-ACD3-321E84E51A8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78EF9-7F2B-4B20-A25C-9E80C16977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141C0-BF72-4A20-AFA7-D05563D549B7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AF9CF-D1E5-49FD-94F7-B246BB67E2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1"/>
            <a:ext cx="10840914" cy="3921600"/>
          </a:xfrm>
        </p:spPr>
        <p:txBody>
          <a:bodyPr anchor="t" anchorCtr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0" y="2716272"/>
            <a:ext cx="8683625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6500" y="5137736"/>
            <a:ext cx="8683625" cy="73284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0"/>
            <a:ext cx="7543800" cy="6856214"/>
          </a:xfrm>
        </p:spPr>
        <p:txBody>
          <a:bodyPr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scription and Con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81824"/>
            <a:ext cx="10840914" cy="1032826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6192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85799" y="2914650"/>
            <a:ext cx="10840914" cy="50212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5366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48424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82308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9250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849" y="2255967"/>
            <a:ext cx="6610351" cy="3476618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anchor="ctr" anchorCtr="0">
            <a:normAutofit/>
          </a:bodyPr>
          <a:lstStyle>
            <a:lvl1pPr algn="l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57974" y="2255968"/>
            <a:ext cx="4848225" cy="347661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26408" y="3352800"/>
            <a:ext cx="9339184" cy="3810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7375" y="4021138"/>
            <a:ext cx="8486775" cy="17605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599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69599"/>
            <a:ext cx="5202071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8270" y="1869599"/>
            <a:ext cx="5228444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anchor="ctr">
            <a:normAutofit/>
          </a:bodyPr>
          <a:lstStyle>
            <a:lvl1pPr algn="l">
              <a:defRPr sz="30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733800"/>
            <a:ext cx="10840914" cy="2057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4B7D2A-0DF8-424B-9572-B79AEBB2D9DC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bchydro.com/content/dam/BCHydro/customer-portal/documents/power-smart/builders-developers/building-envelope-thermal-bridging-guide-v1-6.pdf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hes-documentation.lbl.gov/calculation-methodology/calculation-of-energy-consumption/heating-and-cooling-calculation/internal-gains" TargetMode="External"/><Relationship Id="rId2" Type="http://schemas.openxmlformats.org/officeDocument/2006/relationships/hyperlink" Target="https://www.cambeep.eng.cam.ac.uk/system/files/documents/internalheat.pdf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rc-publications.canada.ca/eng/search/?q=NRCCode&amp;q=&amp;q=&amp;ps=50&amp;s=dtp&amp;m=1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youtube.com/watch?v=QOSelUK6dpQ&amp;t=101s" TargetMode="Externa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@NRELOpenStudio/playlists" TargetMode="External"/><Relationship Id="rId3" Type="http://schemas.openxmlformats.org/officeDocument/2006/relationships/hyperlink" Target="https://energyplus.net/quick-start" TargetMode="External"/><Relationship Id="rId7" Type="http://schemas.openxmlformats.org/officeDocument/2006/relationships/hyperlink" Target="https://www.youtube.com/@helixenergypartnersllc3540/playlists" TargetMode="External"/><Relationship Id="rId12" Type="http://schemas.openxmlformats.org/officeDocument/2006/relationships/hyperlink" Target="https://energyplushelp.freshdesk.com/support/home" TargetMode="External"/><Relationship Id="rId2" Type="http://schemas.openxmlformats.org/officeDocument/2006/relationships/hyperlink" Target="https://bigladdersoftware.com/epx/docs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penstudiocoalition.org/" TargetMode="External"/><Relationship Id="rId11" Type="http://schemas.openxmlformats.org/officeDocument/2006/relationships/hyperlink" Target="https://energy-models.com/forum" TargetMode="External"/><Relationship Id="rId5" Type="http://schemas.openxmlformats.org/officeDocument/2006/relationships/hyperlink" Target="https://bigladdersoftware.com/projects/kiva/" TargetMode="External"/><Relationship Id="rId10" Type="http://schemas.openxmlformats.org/officeDocument/2006/relationships/hyperlink" Target="https://unmethours.com/questions/" TargetMode="External"/><Relationship Id="rId4" Type="http://schemas.openxmlformats.org/officeDocument/2006/relationships/hyperlink" Target="https://energyplus.net/support-training" TargetMode="External"/><Relationship Id="rId9" Type="http://schemas.openxmlformats.org/officeDocument/2006/relationships/hyperlink" Target="https://nrel.github.io/OpenStudio-user-documentation/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tsubishitechinfo.ca/sites/default/files/010_HiW%20Energy%20Recovery%20Cores.pdf" TargetMode="External"/><Relationship Id="rId2" Type="http://schemas.openxmlformats.org/officeDocument/2006/relationships/hyperlink" Target="https://www.fujitsugeneral.com/us/residential/what-is-a-mini-split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QOSelUK6dpQ&amp;t=100s" TargetMode="External"/><Relationship Id="rId5" Type="http://schemas.openxmlformats.org/officeDocument/2006/relationships/hyperlink" Target="https://www.petro.com/resource-center/hvac-packaged-unit-vs-split-system" TargetMode="External"/><Relationship Id="rId4" Type="http://schemas.openxmlformats.org/officeDocument/2006/relationships/hyperlink" Target="https://www.bchydro.com/content/dam/BCHydro/customer-portal/documents/power-smart/builders-developers/building-envelope-thermal-bridging-guide-v1-6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B398-1E7F-44AD-8356-8345134C95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introduction to </a:t>
            </a:r>
            <a:r>
              <a:rPr lang="en-US" dirty="0" err="1"/>
              <a:t>openstudio</a:t>
            </a:r>
            <a:r>
              <a:rPr lang="en-US" dirty="0"/>
              <a:t> and </a:t>
            </a:r>
            <a:r>
              <a:rPr lang="en-US" dirty="0" err="1"/>
              <a:t>energyplus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A3D91-AB3F-4EDF-B87E-FDDF6C5DC4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Edward Vuong</a:t>
            </a:r>
          </a:p>
        </p:txBody>
      </p:sp>
    </p:spTree>
    <p:extLst>
      <p:ext uri="{BB962C8B-B14F-4D97-AF65-F5344CB8AC3E}">
        <p14:creationId xmlns:p14="http://schemas.microsoft.com/office/powerpoint/2010/main" val="235274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0"/>
            <a:ext cx="10840914" cy="4355939"/>
          </a:xfrm>
        </p:spPr>
        <p:txBody>
          <a:bodyPr/>
          <a:lstStyle/>
          <a:p>
            <a:r>
              <a:rPr lang="en-CA" dirty="0"/>
              <a:t>What I do </a:t>
            </a:r>
          </a:p>
          <a:p>
            <a:pPr lvl="1"/>
            <a:r>
              <a:rPr lang="en-CA" dirty="0"/>
              <a:t>Whole building optimization </a:t>
            </a:r>
          </a:p>
          <a:p>
            <a:pPr lvl="2"/>
            <a:r>
              <a:rPr lang="en-CA" dirty="0"/>
              <a:t>Codes development (Retrofit &amp; carbon code)</a:t>
            </a:r>
          </a:p>
          <a:p>
            <a:pPr lvl="2"/>
            <a:r>
              <a:rPr lang="en-CA" dirty="0"/>
              <a:t>Heat pump</a:t>
            </a:r>
          </a:p>
          <a:p>
            <a:pPr lvl="2"/>
            <a:r>
              <a:rPr lang="en-CA" dirty="0"/>
              <a:t>Arctic renewables</a:t>
            </a:r>
          </a:p>
          <a:p>
            <a:pPr lvl="2"/>
            <a:r>
              <a:rPr lang="en-CA" dirty="0"/>
              <a:t>Modelling tool development</a:t>
            </a:r>
          </a:p>
          <a:p>
            <a:r>
              <a:rPr lang="en-CA" dirty="0"/>
              <a:t>What NRC’s Construction Research Centre does</a:t>
            </a:r>
          </a:p>
          <a:p>
            <a:pPr lvl="1"/>
            <a:r>
              <a:rPr lang="en-CA" dirty="0"/>
              <a:t>Building envelope material development/testing</a:t>
            </a:r>
          </a:p>
          <a:p>
            <a:pPr lvl="1"/>
            <a:r>
              <a:rPr lang="en-CA" dirty="0"/>
              <a:t>Building acoustics (transmission prediction, signal processing, perception assessment)</a:t>
            </a:r>
          </a:p>
          <a:p>
            <a:pPr lvl="1"/>
            <a:r>
              <a:rPr lang="en-CA" dirty="0"/>
              <a:t>Indoor air quality (airborne transmission, arctic HRV/ERV application)</a:t>
            </a:r>
          </a:p>
          <a:p>
            <a:pPr lvl="1"/>
            <a:r>
              <a:rPr lang="en-CA" dirty="0"/>
              <a:t>Climate resiliency adaptation (overheating, resiliency, future looking climate data)</a:t>
            </a:r>
          </a:p>
          <a:p>
            <a:pPr lvl="1"/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403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urled page">
            <a:extLst>
              <a:ext uri="{FF2B5EF4-FFF2-40B4-BE49-F238E27FC236}">
                <a16:creationId xmlns:a16="http://schemas.microsoft.com/office/drawing/2014/main" id="{F54CE4C8-2431-43FB-87C3-391A3BFF8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527" y="549804"/>
            <a:ext cx="1157288" cy="11572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F32E04-E3CE-4175-B0D3-33D69BCB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 of this Workshop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0452F-E4D7-4ED7-A292-A7A5A20AC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5373" y="3428107"/>
            <a:ext cx="4392827" cy="2016600"/>
          </a:xfrm>
        </p:spPr>
        <p:txBody>
          <a:bodyPr/>
          <a:lstStyle/>
          <a:p>
            <a:pPr algn="l"/>
            <a:r>
              <a:rPr lang="en-US" dirty="0"/>
              <a:t>By the end, participants should be able to: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Model using OpenStudio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Ask questions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Content Placeholder 5" descr="Mathematics workings">
            <a:extLst>
              <a:ext uri="{FF2B5EF4-FFF2-40B4-BE49-F238E27FC236}">
                <a16:creationId xmlns:a16="http://schemas.microsoft.com/office/drawing/2014/main" id="{E4523323-1EB5-4AAF-95C6-A31523B3F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 bwMode="blackGray">
          <a:xfrm>
            <a:off x="4655820" y="0"/>
            <a:ext cx="7543800" cy="6856214"/>
          </a:xfrm>
        </p:spPr>
      </p:pic>
      <p:pic>
        <p:nvPicPr>
          <p:cNvPr id="7" name="Picture 6" descr="https://www.payette.com/wp-content/uploads/archive/blog/2013/03-12-13/031213_cover.jp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820" y="0"/>
            <a:ext cx="7536179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7056120" y="6579215"/>
            <a:ext cx="41312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</a:rPr>
              <a:t>Figure 1. Energy transfers in a building (Payette, 2018)</a:t>
            </a:r>
          </a:p>
        </p:txBody>
      </p:sp>
    </p:spTree>
    <p:extLst>
      <p:ext uri="{BB962C8B-B14F-4D97-AF65-F5344CB8AC3E}">
        <p14:creationId xmlns:p14="http://schemas.microsoft.com/office/powerpoint/2010/main" val="2342962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CA" dirty="0"/>
              <a:t>What is BEM and BPS?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SketchUp our building (exercise) 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OpenStudio – Envelope (exercise) 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OpenStudio – Internal loads (exercise) 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HVAC Overview 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OpenStudio – HVAC (exercise)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Energy Conservation Measures 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OpenStudio Parametric Analysis Tool (exercise)</a:t>
            </a:r>
          </a:p>
          <a:p>
            <a:pPr marL="342900" indent="-34290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49319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5914" y="995968"/>
            <a:ext cx="4848225" cy="1260000"/>
          </a:xfrm>
        </p:spPr>
        <p:txBody>
          <a:bodyPr>
            <a:normAutofit/>
          </a:bodyPr>
          <a:lstStyle/>
          <a:p>
            <a:r>
              <a:rPr lang="en-CA" dirty="0"/>
              <a:t>BEM and BPS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55914" y="2493360"/>
            <a:ext cx="4848225" cy="347661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Building Energy Modelling (BEM)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Characterize energy and moisture transfer between the building and the external environment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Within the building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Building Performance Simulation (BPS)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More expansive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Thermal comfort, contaminant concentration, GHG emissions, lighting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sz="1600" dirty="0"/>
          </a:p>
          <a:p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6" name="Picture 5" descr="https://www.payette.com/wp-content/uploads/archive/blog/2013/03-12-13/031213_cover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79" y="1277689"/>
            <a:ext cx="6005384" cy="42415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1457167" y="5519225"/>
            <a:ext cx="41312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200" dirty="0"/>
              <a:t>Figure 1. Energy transfers in a building (Payette, 2018)</a:t>
            </a:r>
          </a:p>
        </p:txBody>
      </p:sp>
    </p:spTree>
    <p:extLst>
      <p:ext uri="{BB962C8B-B14F-4D97-AF65-F5344CB8AC3E}">
        <p14:creationId xmlns:p14="http://schemas.microsoft.com/office/powerpoint/2010/main" val="1423216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When to….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Skip BEM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Measurement and verification</a:t>
            </a:r>
          </a:p>
          <a:p>
            <a:r>
              <a:rPr lang="en-CA" dirty="0"/>
              <a:t>Alterations/Retrofit</a:t>
            </a:r>
          </a:p>
          <a:p>
            <a:pPr lvl="1"/>
            <a:r>
              <a:rPr lang="en-CA" dirty="0"/>
              <a:t>Heuristics</a:t>
            </a:r>
          </a:p>
          <a:p>
            <a:pPr lvl="1"/>
            <a:r>
              <a:rPr lang="en-CA" dirty="0"/>
              <a:t>Utility bills</a:t>
            </a:r>
          </a:p>
          <a:p>
            <a:r>
              <a:rPr lang="en-CA" dirty="0"/>
              <a:t>Garbage input (garbage output)</a:t>
            </a:r>
          </a:p>
          <a:p>
            <a:pPr lvl="1"/>
            <a:r>
              <a:rPr lang="en-CA" dirty="0"/>
              <a:t>Uncertain input</a:t>
            </a:r>
          </a:p>
          <a:p>
            <a:r>
              <a:rPr lang="en-CA" dirty="0"/>
              <a:t>Simpler alternative </a:t>
            </a:r>
          </a:p>
          <a:p>
            <a:pPr lvl="1"/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USE BEM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Code compliance</a:t>
            </a:r>
          </a:p>
          <a:p>
            <a:r>
              <a:rPr lang="en-CA" dirty="0"/>
              <a:t>Explain or justify</a:t>
            </a:r>
          </a:p>
          <a:p>
            <a:pPr lvl="1"/>
            <a:r>
              <a:rPr lang="en-CA" dirty="0"/>
              <a:t>Physical phenomenon (academic)</a:t>
            </a:r>
          </a:p>
          <a:p>
            <a:pPr lvl="1"/>
            <a:r>
              <a:rPr lang="en-CA" dirty="0"/>
              <a:t>What happens to X when Y occurs? (practical)</a:t>
            </a:r>
          </a:p>
          <a:p>
            <a:pPr lvl="1"/>
            <a:r>
              <a:rPr lang="en-CA" dirty="0"/>
              <a:t>Forecast/predict hypotheticals (academic + practical)</a:t>
            </a:r>
          </a:p>
          <a:p>
            <a:r>
              <a:rPr lang="en-CA" dirty="0"/>
              <a:t>Exploratory</a:t>
            </a:r>
          </a:p>
          <a:p>
            <a:r>
              <a:rPr lang="en-CA" dirty="0"/>
              <a:t>Calibration</a:t>
            </a:r>
          </a:p>
        </p:txBody>
      </p:sp>
    </p:spTree>
    <p:extLst>
      <p:ext uri="{BB962C8B-B14F-4D97-AF65-F5344CB8AC3E}">
        <p14:creationId xmlns:p14="http://schemas.microsoft.com/office/powerpoint/2010/main" val="705796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BPS Tools: EnergyPlus &amp; OpenStudio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69600"/>
            <a:ext cx="6736491" cy="471243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/>
              <a:t>E+ is a building performance simulation program</a:t>
            </a:r>
          </a:p>
          <a:p>
            <a:r>
              <a:rPr lang="en-CA" dirty="0"/>
              <a:t>Detail physics</a:t>
            </a:r>
          </a:p>
          <a:p>
            <a:r>
              <a:rPr lang="en-CA" dirty="0"/>
              <a:t>Funded by the US DOE: 1997- present</a:t>
            </a:r>
          </a:p>
          <a:p>
            <a:r>
              <a:rPr lang="en-CA" dirty="0"/>
              <a:t>Open-source </a:t>
            </a:r>
          </a:p>
          <a:p>
            <a:r>
              <a:rPr lang="en-CA" dirty="0"/>
              <a:t>“No user interface” </a:t>
            </a:r>
            <a:r>
              <a:rPr lang="en-CA" dirty="0">
                <a:sym typeface="Wingdings" panose="05000000000000000000" pitchFamily="2" charset="2"/>
              </a:rPr>
              <a:t> intended as an engine</a:t>
            </a:r>
          </a:p>
          <a:p>
            <a:pPr lvl="1"/>
            <a:r>
              <a:rPr lang="en-CA" dirty="0" err="1">
                <a:sym typeface="Wingdings" panose="05000000000000000000" pitchFamily="2" charset="2"/>
              </a:rPr>
              <a:t>DesignBuilder</a:t>
            </a:r>
            <a:r>
              <a:rPr lang="en-CA" dirty="0">
                <a:sym typeface="Wingdings" panose="05000000000000000000" pitchFamily="2" charset="2"/>
              </a:rPr>
              <a:t>, Autodesk Revit, Trace3D Plus</a:t>
            </a:r>
          </a:p>
          <a:p>
            <a:pPr marL="0" indent="0">
              <a:buNone/>
            </a:pPr>
            <a:endParaRPr lang="en-CA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CA" dirty="0">
                <a:sym typeface="Wingdings" panose="05000000000000000000" pitchFamily="2" charset="2"/>
              </a:rPr>
              <a:t>OpenStudio Project</a:t>
            </a:r>
          </a:p>
          <a:p>
            <a:r>
              <a:rPr lang="en-CA" dirty="0">
                <a:sym typeface="Wingdings" panose="05000000000000000000" pitchFamily="2" charset="2"/>
              </a:rPr>
              <a:t>US DOE: 2008 – present; open-source</a:t>
            </a:r>
          </a:p>
          <a:p>
            <a:r>
              <a:rPr lang="en-CA" dirty="0">
                <a:sym typeface="Wingdings" panose="05000000000000000000" pitchFamily="2" charset="2"/>
              </a:rPr>
              <a:t>Several pieces of software and tools</a:t>
            </a:r>
          </a:p>
          <a:p>
            <a:pPr lvl="1"/>
            <a:r>
              <a:rPr lang="en-CA" dirty="0"/>
              <a:t>OpenStudio Application – “OpenStudio”</a:t>
            </a:r>
          </a:p>
          <a:p>
            <a:pPr lvl="1"/>
            <a:r>
              <a:rPr lang="en-CA" dirty="0"/>
              <a:t>OpenStudio SketchUp plug-in</a:t>
            </a:r>
          </a:p>
          <a:p>
            <a:pPr lvl="1"/>
            <a:r>
              <a:rPr lang="en-CA" dirty="0"/>
              <a:t>Parametric Analysis Tool</a:t>
            </a:r>
          </a:p>
          <a:p>
            <a:pPr lvl="1"/>
            <a:r>
              <a:rPr lang="en-CA" dirty="0"/>
              <a:t>OpenStudio SDK, OpenStudio-Standards, OpenStudio Server</a:t>
            </a:r>
          </a:p>
          <a:p>
            <a:r>
              <a:rPr lang="en-CA" dirty="0">
                <a:sym typeface="Wingdings" panose="05000000000000000000" pitchFamily="2" charset="2"/>
              </a:rPr>
              <a:t>The rest of “car”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19277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BPM Tools: EnergyPlus &amp; OpenStudio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680520"/>
            <a:ext cx="10840914" cy="46049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>
                <a:sym typeface="Wingdings" panose="05000000000000000000" pitchFamily="2" charset="2"/>
              </a:rPr>
              <a:t>OpenStudio Project (cont.)</a:t>
            </a:r>
          </a:p>
          <a:p>
            <a:pPr lvl="1"/>
            <a:r>
              <a:rPr lang="en-CA" dirty="0"/>
              <a:t>Contributions from </a:t>
            </a:r>
          </a:p>
          <a:p>
            <a:pPr lvl="2"/>
            <a:r>
              <a:rPr lang="en-CA" dirty="0"/>
              <a:t>US Labs (ORNL, LBNL, NREL, PNNL, ANL)</a:t>
            </a:r>
          </a:p>
          <a:p>
            <a:pPr lvl="2"/>
            <a:r>
              <a:rPr lang="en-CA" dirty="0"/>
              <a:t>Private organizations (OpenStudio-Coalition)</a:t>
            </a:r>
          </a:p>
          <a:p>
            <a:pPr lvl="2"/>
            <a:r>
              <a:rPr lang="en-CA" dirty="0"/>
              <a:t>Industry &amp; academia (Autodesk, Carrier, Trane, individual firms, professionals/academics)</a:t>
            </a:r>
          </a:p>
          <a:p>
            <a:pPr lvl="2"/>
            <a:r>
              <a:rPr lang="en-CA" dirty="0"/>
              <a:t>“Canadian content” (</a:t>
            </a:r>
            <a:r>
              <a:rPr lang="en-CA" dirty="0" err="1"/>
              <a:t>NRCan</a:t>
            </a:r>
            <a:r>
              <a:rPr lang="en-CA" dirty="0"/>
              <a:t>, NRC)</a:t>
            </a:r>
          </a:p>
          <a:p>
            <a:pPr lvl="1"/>
            <a:r>
              <a:rPr lang="en-CA" dirty="0"/>
              <a:t>Continuous development, reliable, free, community</a:t>
            </a:r>
          </a:p>
          <a:p>
            <a:pPr lvl="1"/>
            <a:r>
              <a:rPr lang="en-CA" dirty="0"/>
              <a:t>Limited tech support</a:t>
            </a:r>
          </a:p>
          <a:p>
            <a:pPr lvl="2"/>
            <a:r>
              <a:rPr lang="en-CA" dirty="0"/>
              <a:t>IES, Trace3D, </a:t>
            </a:r>
            <a:r>
              <a:rPr lang="en-CA" dirty="0" err="1"/>
              <a:t>DesignBuilder</a:t>
            </a:r>
            <a:endParaRPr lang="en-CA" dirty="0"/>
          </a:p>
          <a:p>
            <a:pPr marL="0" indent="0">
              <a:buNone/>
            </a:pPr>
            <a:r>
              <a:rPr lang="en-CA" dirty="0">
                <a:sym typeface="Wingdings" panose="05000000000000000000" pitchFamily="2" charset="2"/>
              </a:rPr>
              <a:t>SketchUp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3D CAD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Architectural/interior design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Plug-ins</a:t>
            </a:r>
          </a:p>
        </p:txBody>
      </p:sp>
    </p:spTree>
    <p:extLst>
      <p:ext uri="{BB962C8B-B14F-4D97-AF65-F5344CB8AC3E}">
        <p14:creationId xmlns:p14="http://schemas.microsoft.com/office/powerpoint/2010/main" val="1784809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General procedures for modelling buildings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Building information need:</a:t>
            </a:r>
          </a:p>
          <a:p>
            <a:r>
              <a:rPr lang="en-CA" dirty="0"/>
              <a:t>Geometry</a:t>
            </a:r>
          </a:p>
          <a:p>
            <a:r>
              <a:rPr lang="en-CA" dirty="0"/>
              <a:t>Construction details</a:t>
            </a:r>
          </a:p>
          <a:p>
            <a:pPr lvl="1"/>
            <a:r>
              <a:rPr lang="en-CA" dirty="0"/>
              <a:t>Air leakage</a:t>
            </a:r>
          </a:p>
          <a:p>
            <a:r>
              <a:rPr lang="en-CA" dirty="0"/>
              <a:t>Internal loads</a:t>
            </a:r>
          </a:p>
          <a:p>
            <a:r>
              <a:rPr lang="en-CA" dirty="0"/>
              <a:t>Schedule and </a:t>
            </a:r>
            <a:r>
              <a:rPr lang="en-CA" dirty="0" err="1"/>
              <a:t>setpoints</a:t>
            </a:r>
            <a:endParaRPr lang="en-CA" dirty="0"/>
          </a:p>
          <a:p>
            <a:r>
              <a:rPr lang="en-CA" dirty="0"/>
              <a:t>HVAC</a:t>
            </a:r>
          </a:p>
          <a:p>
            <a:pPr lvl="1"/>
            <a:r>
              <a:rPr lang="en-CA" dirty="0"/>
              <a:t>Components, HVAC drawings (zoning)</a:t>
            </a:r>
          </a:p>
          <a:p>
            <a:r>
              <a:rPr lang="en-CA" dirty="0"/>
              <a:t>Domestic hot water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18173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Zoning (thermal zones)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0"/>
            <a:ext cx="4777739" cy="3776820"/>
          </a:xfrm>
        </p:spPr>
        <p:txBody>
          <a:bodyPr>
            <a:normAutofit/>
          </a:bodyPr>
          <a:lstStyle/>
          <a:p>
            <a:r>
              <a:rPr lang="en-CA" dirty="0"/>
              <a:t>Volume of air with a single average temperature</a:t>
            </a:r>
          </a:p>
          <a:p>
            <a:r>
              <a:rPr lang="en-CA" dirty="0"/>
              <a:t>The building we’re in right now</a:t>
            </a:r>
          </a:p>
          <a:p>
            <a:r>
              <a:rPr lang="en-CA" dirty="0"/>
              <a:t>Approximate as a box with air</a:t>
            </a:r>
          </a:p>
          <a:p>
            <a:pPr lvl="1"/>
            <a:r>
              <a:rPr lang="en-CA" dirty="0"/>
              <a:t>Avoid temperature variations</a:t>
            </a:r>
          </a:p>
          <a:p>
            <a:pPr lvl="1"/>
            <a:r>
              <a:rPr lang="en-CA" dirty="0"/>
              <a:t>Entire building – too coarse</a:t>
            </a:r>
          </a:p>
          <a:p>
            <a:r>
              <a:rPr lang="en-CA" dirty="0"/>
              <a:t>Rule of thumbs</a:t>
            </a:r>
          </a:p>
          <a:p>
            <a:pPr lvl="1"/>
            <a:r>
              <a:rPr lang="en-CA" dirty="0"/>
              <a:t>Similar activity/occupancy, HVAC, orientation/location (windows)</a:t>
            </a:r>
          </a:p>
          <a:p>
            <a:r>
              <a:rPr lang="en-CA" dirty="0"/>
              <a:t>No single right answer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840" y="2065982"/>
            <a:ext cx="6448575" cy="332135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57562" y="5494022"/>
            <a:ext cx="40751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200" dirty="0"/>
              <a:t>Figure 2. Ft. Monmouth floor plan (GARD Analytics and University of Illinois, 2003)</a:t>
            </a:r>
          </a:p>
        </p:txBody>
      </p:sp>
    </p:spTree>
    <p:extLst>
      <p:ext uri="{BB962C8B-B14F-4D97-AF65-F5344CB8AC3E}">
        <p14:creationId xmlns:p14="http://schemas.microsoft.com/office/powerpoint/2010/main" val="2999390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Zoning (thermal zones)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484" y="2071096"/>
            <a:ext cx="7943850" cy="36385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803771" y="5772641"/>
            <a:ext cx="66143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200" dirty="0"/>
              <a:t>Figure 3. Ft. Monmouth floor plan zoned (GARD Analytics and University of Illinois, 2003)</a:t>
            </a:r>
          </a:p>
        </p:txBody>
      </p:sp>
    </p:spTree>
    <p:extLst>
      <p:ext uri="{BB962C8B-B14F-4D97-AF65-F5344CB8AC3E}">
        <p14:creationId xmlns:p14="http://schemas.microsoft.com/office/powerpoint/2010/main" val="1254089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228" y="518984"/>
            <a:ext cx="10840914" cy="1260000"/>
          </a:xfrm>
        </p:spPr>
        <p:txBody>
          <a:bodyPr/>
          <a:lstStyle/>
          <a:p>
            <a:r>
              <a:rPr lang="en-CA" dirty="0"/>
              <a:t>Zoning (thermal zones)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795" y="5527589"/>
            <a:ext cx="9265507" cy="110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Differences: Cooling load &lt; 10%, Heating load &lt; 1%</a:t>
            </a:r>
          </a:p>
          <a:p>
            <a:pPr marL="0" indent="0">
              <a:buNone/>
            </a:pPr>
            <a:r>
              <a:rPr lang="en-CA" dirty="0"/>
              <a:t>Is this acceptable?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650" y="1438275"/>
            <a:ext cx="4967572" cy="36518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82" y="1438275"/>
            <a:ext cx="4981227" cy="372046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9282" y="5204665"/>
            <a:ext cx="10822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200" dirty="0"/>
              <a:t>Figure 4a. Ft. Monmouth zone cooling load and Figure 4b Ft. Monmouth 1 &amp; 6 zone cooling load  (GARD Analytics and University of Illinois, 2003)</a:t>
            </a:r>
          </a:p>
        </p:txBody>
      </p:sp>
    </p:spTree>
    <p:extLst>
      <p:ext uri="{BB962C8B-B14F-4D97-AF65-F5344CB8AC3E}">
        <p14:creationId xmlns:p14="http://schemas.microsoft.com/office/powerpoint/2010/main" val="3990745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Simulation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0"/>
            <a:ext cx="10840914" cy="4794811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Timestep</a:t>
            </a:r>
          </a:p>
          <a:p>
            <a:pPr lvl="1"/>
            <a:r>
              <a:rPr lang="en-CA" dirty="0"/>
              <a:t>Discrete time intervals</a:t>
            </a:r>
          </a:p>
          <a:p>
            <a:pPr lvl="1"/>
            <a:r>
              <a:rPr lang="en-CA" dirty="0"/>
              <a:t>“Usually” 10 - 15 min</a:t>
            </a:r>
          </a:p>
          <a:p>
            <a:r>
              <a:rPr lang="en-CA" dirty="0"/>
              <a:t>Shadow calculation</a:t>
            </a:r>
          </a:p>
          <a:p>
            <a:pPr lvl="1"/>
            <a:r>
              <a:rPr lang="en-CA" dirty="0"/>
              <a:t>Shadows cast by building, shading devices</a:t>
            </a:r>
          </a:p>
          <a:p>
            <a:pPr lvl="1"/>
            <a:r>
              <a:rPr lang="en-CA" dirty="0"/>
              <a:t>OS default: 20 day average (daylighting modelling – more frequent)</a:t>
            </a:r>
          </a:p>
          <a:p>
            <a:r>
              <a:rPr lang="en-CA" dirty="0"/>
              <a:t>Ground temperature</a:t>
            </a:r>
          </a:p>
          <a:p>
            <a:pPr lvl="1"/>
            <a:r>
              <a:rPr lang="en-CA" dirty="0"/>
              <a:t>Gradual change</a:t>
            </a:r>
          </a:p>
          <a:p>
            <a:pPr lvl="1"/>
            <a:r>
              <a:rPr lang="en-CA" dirty="0"/>
              <a:t>Can be significant for residential; less for commercial</a:t>
            </a:r>
          </a:p>
          <a:p>
            <a:r>
              <a:rPr lang="en-CA" dirty="0" err="1"/>
              <a:t>Autosizing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Eqp capacity, flowrate, load, fan power</a:t>
            </a:r>
          </a:p>
          <a:p>
            <a:pPr lvl="1"/>
            <a:r>
              <a:rPr lang="en-CA" dirty="0"/>
              <a:t>Sizing factor</a:t>
            </a:r>
          </a:p>
          <a:p>
            <a:pPr lvl="1"/>
            <a:r>
              <a:rPr lang="en-CA" dirty="0"/>
              <a:t>Sequential &amp; uniform loading</a:t>
            </a:r>
          </a:p>
          <a:p>
            <a:pPr lvl="1"/>
            <a:r>
              <a:rPr lang="en-CA" dirty="0"/>
              <a:t>Design day</a:t>
            </a:r>
          </a:p>
          <a:p>
            <a:pPr lvl="2"/>
            <a:r>
              <a:rPr lang="en-CA" dirty="0"/>
              <a:t>ASHRAE design day conditions</a:t>
            </a:r>
          </a:p>
        </p:txBody>
      </p:sp>
    </p:spTree>
    <p:extLst>
      <p:ext uri="{BB962C8B-B14F-4D97-AF65-F5344CB8AC3E}">
        <p14:creationId xmlns:p14="http://schemas.microsoft.com/office/powerpoint/2010/main" val="2769427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1622" y="378940"/>
            <a:ext cx="8205309" cy="1260389"/>
          </a:xfrm>
        </p:spPr>
        <p:txBody>
          <a:bodyPr/>
          <a:lstStyle/>
          <a:p>
            <a:r>
              <a:rPr lang="en-CA" dirty="0"/>
              <a:t>Exercise: Let’s </a:t>
            </a:r>
            <a:r>
              <a:rPr lang="en-CA" dirty="0" err="1"/>
              <a:t>sketchup</a:t>
            </a:r>
            <a:r>
              <a:rPr lang="en-CA" dirty="0"/>
              <a:t> our building</a:t>
            </a:r>
          </a:p>
        </p:txBody>
      </p:sp>
      <p:pic>
        <p:nvPicPr>
          <p:cNvPr id="6" name="Picture 5" descr="M:\BEM_IBO\Facilities\CCHT\Administration\Photos\M-24EF\D214-20-0300-1 comp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060" y="1957407"/>
            <a:ext cx="5845819" cy="389364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716692" y="1919072"/>
            <a:ext cx="479442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FF0000"/>
                </a:solidFill>
              </a:rPr>
              <a:t>First, set up OpenStudio (</a:t>
            </a:r>
            <a:r>
              <a:rPr lang="en-CA" dirty="0" err="1">
                <a:solidFill>
                  <a:srgbClr val="FF0000"/>
                </a:solidFill>
              </a:rPr>
              <a:t>Dview</a:t>
            </a:r>
            <a:r>
              <a:rPr lang="en-CA" dirty="0">
                <a:solidFill>
                  <a:srgbClr val="FF0000"/>
                </a:solidFill>
              </a:rPr>
              <a:t> and default libraries)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Create a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Canadian Centre for Housing Technology research facility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NZER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Semi-detached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150 m</a:t>
            </a:r>
            <a:r>
              <a:rPr lang="en-CA" baseline="30000" dirty="0"/>
              <a:t>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Side by side comparison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CCHT-F is the test facility (left)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500  sensors (incl. assembly)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Gas, electricity, water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OS_exercise</a:t>
            </a:r>
            <a:r>
              <a:rPr lang="en-CA" dirty="0"/>
              <a:t>&gt;</a:t>
            </a:r>
            <a:r>
              <a:rPr lang="en-CA" dirty="0" err="1"/>
              <a:t>sketchup</a:t>
            </a:r>
            <a:r>
              <a:rPr lang="en-CA" dirty="0"/>
              <a:t>&gt;</a:t>
            </a:r>
            <a:r>
              <a:rPr lang="en-CA" dirty="0" err="1"/>
              <a:t>CCHT_plans</a:t>
            </a:r>
            <a:r>
              <a:rPr lang="en-CA" dirty="0"/>
              <a:t> “CCHT-F” plans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3_sketchup_exercise.pdf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4 zones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876534" y="5865424"/>
            <a:ext cx="20008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5. CCHT E and F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4168566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building envelope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Envelope – walls, roofs, floor, fenestration (doors, windows, skylights)</a:t>
            </a:r>
          </a:p>
          <a:p>
            <a:r>
              <a:rPr lang="en-CA" dirty="0"/>
              <a:t>Construction – assembly of layers of materials that form the envelope</a:t>
            </a:r>
          </a:p>
          <a:p>
            <a:r>
              <a:rPr lang="en-CA" dirty="0"/>
              <a:t>Thermal bridge (thermal bypass) – areas of an construction that allows heat to easily flow through</a:t>
            </a:r>
          </a:p>
          <a:p>
            <a:pPr lvl="1"/>
            <a:r>
              <a:rPr lang="en-CA" dirty="0"/>
              <a:t>Studs, balconies, window perimeters</a:t>
            </a:r>
          </a:p>
          <a:p>
            <a:pPr lvl="1"/>
            <a:r>
              <a:rPr lang="en-CA" dirty="0"/>
              <a:t>Derate insulation (R-value)</a:t>
            </a:r>
          </a:p>
          <a:p>
            <a:pPr lvl="2"/>
            <a:r>
              <a:rPr lang="en-CA" dirty="0"/>
              <a:t>E.g. 77% insulation &amp; 23% stud vs 100% insulation</a:t>
            </a:r>
          </a:p>
          <a:p>
            <a:pPr lvl="1"/>
            <a:r>
              <a:rPr lang="en-CA" u="sng" dirty="0">
                <a:hlinkClick r:id="rId2"/>
              </a:rPr>
              <a:t>Extensive guide from Morrison Hershfield</a:t>
            </a:r>
            <a:endParaRPr lang="en-CA" u="sng" dirty="0"/>
          </a:p>
          <a:p>
            <a:pPr lvl="1"/>
            <a:endParaRPr lang="en-CA" u="sng" dirty="0"/>
          </a:p>
          <a:p>
            <a:pPr marL="457200" lvl="1" indent="0">
              <a:buNone/>
            </a:pPr>
            <a:endParaRPr lang="en-CA" u="sng"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6281836" y="3294943"/>
            <a:ext cx="4611435" cy="249625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7271" y="5791201"/>
            <a:ext cx="44005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6. Wall cross section (Morrison-</a:t>
            </a:r>
            <a:r>
              <a:rPr lang="en-CA" sz="1200" dirty="0" err="1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Hershfield</a:t>
            </a:r>
            <a:r>
              <a:rPr lang="en-CA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2018)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3751279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Air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Unintended outdoor air leaking into (infiltration) or out of (exfiltration) the building</a:t>
            </a:r>
          </a:p>
          <a:p>
            <a:r>
              <a:rPr lang="en-CA" dirty="0"/>
              <a:t>Blower door test</a:t>
            </a:r>
          </a:p>
          <a:p>
            <a:pPr lvl="1"/>
            <a:r>
              <a:rPr lang="en-CA" dirty="0"/>
              <a:t>Closed up vs as-operated </a:t>
            </a:r>
          </a:p>
          <a:p>
            <a:pPr lvl="1"/>
            <a:endParaRPr lang="en-CA" dirty="0"/>
          </a:p>
        </p:txBody>
      </p:sp>
      <p:pic>
        <p:nvPicPr>
          <p:cNvPr id="8" name="Picture 7" descr="C:\Users\willsa\Documents\Projects_Local\Airtightness\60_Results\Pictures\PXL_20210505_165404453.jp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50" t="8115" r="6086" b="19384"/>
          <a:stretch/>
        </p:blipFill>
        <p:spPr bwMode="auto">
          <a:xfrm rot="5400000">
            <a:off x="4243745" y="2946469"/>
            <a:ext cx="3386451" cy="35579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24138" y="6418673"/>
            <a:ext cx="24256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7. Blower door test fan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1733361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Air Leakage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Blower door test cont.</a:t>
            </a:r>
          </a:p>
          <a:p>
            <a:pPr lvl="1"/>
            <a:r>
              <a:rPr lang="en-CA" dirty="0"/>
              <a:t>Guarded vs unguarded</a:t>
            </a:r>
          </a:p>
          <a:p>
            <a:pPr lvl="1"/>
            <a:r>
              <a:rPr lang="en-CA" dirty="0"/>
              <a:t>Negative, positive, single/multi-point (pressure)</a:t>
            </a:r>
          </a:p>
          <a:p>
            <a:pPr lvl="1"/>
            <a:r>
              <a:rPr lang="en-CA" dirty="0"/>
              <a:t>ACH50, Flow coefficient, Effective leakage area (4Pa or 10Pa), flow per exterior area (75Pa)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7338171" y="4187410"/>
            <a:ext cx="2590165" cy="1988185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3"/>
          <a:stretch>
            <a:fillRect/>
          </a:stretch>
        </p:blipFill>
        <p:spPr>
          <a:xfrm>
            <a:off x="2362517" y="4187410"/>
            <a:ext cx="1970586" cy="2001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44834" y="6188920"/>
            <a:ext cx="30059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8. Unguarded blower door test</a:t>
            </a:r>
            <a:endParaRPr lang="en-CA" sz="1200" dirty="0"/>
          </a:p>
        </p:txBody>
      </p:sp>
      <p:sp>
        <p:nvSpPr>
          <p:cNvPr id="7" name="Rectangle 6"/>
          <p:cNvSpPr/>
          <p:nvPr/>
        </p:nvSpPr>
        <p:spPr>
          <a:xfrm>
            <a:off x="7220847" y="6188920"/>
            <a:ext cx="28248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8. Guarded blower door test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769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Exercise: Air leakage modelling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1" y="1618141"/>
                <a:ext cx="10840914" cy="43102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Characterizing the air leakage rate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  <a:p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𝑓𝑙𝑜𝑤𝑟𝑎𝑡𝑒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𝑓𝑙𝑜𝑤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𝑐𝑜𝑒𝑓𝑓𝑖𝑐𝑖𝑒𝑛𝑡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𝑃𝑎</m:t>
                            </m:r>
                          </m:e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CA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𝑏𝑢𝑖𝑙𝑑𝑖𝑛𝑔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𝑠𝑝𝑒𝑐𝑖𝑓𝑖𝑐</m:t>
                    </m:r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𝑝𝑟𝑒𝑠𝑠𝑢𝑟𝑒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𝑑𝑖𝑓𝑓𝑒𝑟𝑡𝑖𝑎𝑙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𝑝𝑟𝑒𝑠𝑠𝑢𝑟𝑒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𝑐𝑜𝑒𝑓𝑓𝑖𝑐𝑖𝑒𝑛𝑡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(~0.67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𝑚𝑜𝑠𝑡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𝑏𝑢𝑖𝑙𝑑𝑖𝑛𝑔𝑠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Converting leakage rates from one pressure to another (4._os_envelope_exercise.pdf)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4 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𝑃𝑎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50 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𝑃𝑎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e>
                            <m: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b>
                          </m:s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1" y="1618141"/>
                <a:ext cx="10840914" cy="4310220"/>
              </a:xfrm>
              <a:blipFill rotWithShape="0">
                <a:blip r:embed="rId2"/>
                <a:stretch>
                  <a:fillRect l="-506" t="-7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8059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Openstudio</a:t>
            </a:r>
            <a:r>
              <a:rPr lang="en-CA" dirty="0"/>
              <a:t> exercise: envelope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Insulated surfaces</a:t>
            </a:r>
          </a:p>
          <a:p>
            <a:pPr lvl="1"/>
            <a:r>
              <a:rPr lang="en-CA" dirty="0" err="1"/>
              <a:t>Blu_wall</a:t>
            </a:r>
            <a:r>
              <a:rPr lang="en-CA" dirty="0"/>
              <a:t>: R-28 (U-value 0.198 W/m</a:t>
            </a:r>
            <a:r>
              <a:rPr lang="en-CA" baseline="30000" dirty="0"/>
              <a:t>2</a:t>
            </a:r>
            <a:r>
              <a:rPr lang="en-CA" dirty="0"/>
              <a:t>∙K)</a:t>
            </a:r>
          </a:p>
          <a:p>
            <a:pPr lvl="1"/>
            <a:r>
              <a:rPr lang="en-CA" dirty="0" err="1"/>
              <a:t>Ground_floor</a:t>
            </a:r>
            <a:r>
              <a:rPr lang="en-CA" dirty="0"/>
              <a:t>: R-18 (U-value 0.319 W/m</a:t>
            </a:r>
            <a:r>
              <a:rPr lang="en-CA" baseline="30000" dirty="0"/>
              <a:t>2</a:t>
            </a:r>
            <a:r>
              <a:rPr lang="en-CA" dirty="0"/>
              <a:t>∙K)</a:t>
            </a:r>
          </a:p>
          <a:p>
            <a:pPr lvl="1"/>
            <a:r>
              <a:rPr lang="en-CA" dirty="0"/>
              <a:t>Attic floor/second storey ceiling - R-53 (U-value 0.106 W/m</a:t>
            </a:r>
            <a:r>
              <a:rPr lang="en-CA" baseline="30000" dirty="0"/>
              <a:t>2</a:t>
            </a:r>
            <a:r>
              <a:rPr lang="en-CA" dirty="0"/>
              <a:t>∙K)</a:t>
            </a:r>
          </a:p>
          <a:p>
            <a:r>
              <a:rPr lang="en-CA" dirty="0"/>
              <a:t>Uninsulated surfaces</a:t>
            </a:r>
          </a:p>
          <a:p>
            <a:pPr lvl="1"/>
            <a:r>
              <a:rPr lang="en-CA" dirty="0"/>
              <a:t>Roof</a:t>
            </a:r>
          </a:p>
          <a:p>
            <a:pPr lvl="1"/>
            <a:r>
              <a:rPr lang="en-CA" dirty="0"/>
              <a:t>Interior surfaces</a:t>
            </a:r>
          </a:p>
          <a:p>
            <a:pPr lvl="1"/>
            <a:r>
              <a:rPr lang="en-CA" dirty="0"/>
              <a:t>doors</a:t>
            </a:r>
          </a:p>
          <a:p>
            <a:r>
              <a:rPr lang="en-CA" dirty="0"/>
              <a:t>Adiabatic partitions </a:t>
            </a:r>
          </a:p>
          <a:p>
            <a:r>
              <a:rPr lang="en-CA" dirty="0"/>
              <a:t>Window</a:t>
            </a:r>
          </a:p>
          <a:p>
            <a:pPr lvl="1"/>
            <a:r>
              <a:rPr lang="en-CA" dirty="0"/>
              <a:t>U-value 0.83 W/m</a:t>
            </a:r>
            <a:r>
              <a:rPr lang="en-CA" baseline="30000" dirty="0"/>
              <a:t>2</a:t>
            </a:r>
            <a:r>
              <a:rPr lang="en-CA" dirty="0"/>
              <a:t>∙K</a:t>
            </a:r>
          </a:p>
          <a:p>
            <a:pPr lvl="1"/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64763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Internal Loads in OpenStudio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638300"/>
            <a:ext cx="10840914" cy="4882141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Sources of heat that warms up a building</a:t>
            </a:r>
          </a:p>
          <a:p>
            <a:pPr lvl="1"/>
            <a:r>
              <a:rPr lang="en-CA" dirty="0"/>
              <a:t>Light</a:t>
            </a:r>
          </a:p>
          <a:p>
            <a:pPr lvl="1"/>
            <a:r>
              <a:rPr lang="en-CA" dirty="0"/>
              <a:t>Occupants</a:t>
            </a:r>
          </a:p>
          <a:p>
            <a:pPr lvl="1"/>
            <a:r>
              <a:rPr lang="en-CA" dirty="0"/>
              <a:t>Plug (receptacle) and process loads</a:t>
            </a:r>
          </a:p>
          <a:p>
            <a:r>
              <a:rPr lang="en-CA" dirty="0"/>
              <a:t>Different “types of heat” in modelling</a:t>
            </a:r>
          </a:p>
          <a:p>
            <a:r>
              <a:rPr lang="en-CA" dirty="0"/>
              <a:t>Lighting</a:t>
            </a:r>
          </a:p>
          <a:p>
            <a:pPr lvl="1"/>
            <a:r>
              <a:rPr lang="en-CA" dirty="0"/>
              <a:t>Convected, visible (short wave), long wave, return air</a:t>
            </a:r>
          </a:p>
          <a:p>
            <a:pPr lvl="1"/>
            <a:r>
              <a:rPr lang="en-CA" dirty="0"/>
              <a:t>Max power </a:t>
            </a:r>
          </a:p>
          <a:p>
            <a:pPr lvl="2"/>
            <a:r>
              <a:rPr lang="en-CA" dirty="0"/>
              <a:t>entered in internal gains object</a:t>
            </a:r>
          </a:p>
          <a:p>
            <a:r>
              <a:rPr lang="en-CA" dirty="0"/>
              <a:t>Occupants</a:t>
            </a:r>
          </a:p>
          <a:p>
            <a:pPr lvl="1"/>
            <a:r>
              <a:rPr lang="en-CA" dirty="0"/>
              <a:t>Sensible, latent, radiant</a:t>
            </a:r>
          </a:p>
          <a:p>
            <a:pPr lvl="1"/>
            <a:r>
              <a:rPr lang="en-CA" dirty="0"/>
              <a:t>Activity level (W per person)</a:t>
            </a:r>
          </a:p>
          <a:p>
            <a:pPr lvl="2"/>
            <a:r>
              <a:rPr lang="en-CA" dirty="0"/>
              <a:t>Entered as a schedule</a:t>
            </a:r>
          </a:p>
          <a:p>
            <a:r>
              <a:rPr lang="en-CA" dirty="0" err="1"/>
              <a:t>Receptacple</a:t>
            </a:r>
            <a:r>
              <a:rPr lang="en-CA" dirty="0"/>
              <a:t> or process</a:t>
            </a:r>
          </a:p>
          <a:p>
            <a:pPr lvl="1"/>
            <a:r>
              <a:rPr lang="en-CA" dirty="0"/>
              <a:t>Convected, radiant, loss (e.g. exhausted)</a:t>
            </a:r>
          </a:p>
          <a:p>
            <a:pPr lvl="1"/>
            <a:r>
              <a:rPr lang="en-CA" dirty="0"/>
              <a:t>Don’t use the nameplate value (nominal power) </a:t>
            </a:r>
          </a:p>
          <a:p>
            <a:pPr lvl="2"/>
            <a:r>
              <a:rPr lang="en-CA" dirty="0"/>
              <a:t>Exceptions: electric resistive, constant load</a:t>
            </a:r>
          </a:p>
        </p:txBody>
      </p:sp>
    </p:spTree>
    <p:extLst>
      <p:ext uri="{BB962C8B-B14F-4D97-AF65-F5344CB8AC3E}">
        <p14:creationId xmlns:p14="http://schemas.microsoft.com/office/powerpoint/2010/main" val="2012998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568411"/>
            <a:ext cx="10840914" cy="1260000"/>
          </a:xfrm>
        </p:spPr>
        <p:txBody>
          <a:bodyPr/>
          <a:lstStyle/>
          <a:p>
            <a:r>
              <a:rPr lang="en-CA" dirty="0"/>
              <a:t>Sources for internal gain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28411"/>
            <a:ext cx="10840914" cy="491837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Lighting</a:t>
            </a:r>
          </a:p>
          <a:p>
            <a:pPr lvl="1"/>
            <a:r>
              <a:rPr lang="en-CA" dirty="0"/>
              <a:t>ASHRAE Fundamental </a:t>
            </a:r>
          </a:p>
          <a:p>
            <a:pPr lvl="1"/>
            <a:r>
              <a:rPr lang="en-CA" dirty="0"/>
              <a:t>EnergyPlus Input Output Reference document (Table 1.28) (from ASHRAE 1282 RP)</a:t>
            </a:r>
          </a:p>
          <a:p>
            <a:pPr lvl="1"/>
            <a:r>
              <a:rPr lang="en-CA" dirty="0"/>
              <a:t>ASHRAE Fundamental 2021: Chapter 18 – Table  3 for lighting heat gain</a:t>
            </a:r>
          </a:p>
          <a:p>
            <a:r>
              <a:rPr lang="en-CA" dirty="0"/>
              <a:t>Occupancy</a:t>
            </a:r>
          </a:p>
          <a:p>
            <a:pPr lvl="1"/>
            <a:r>
              <a:rPr lang="en-CA" dirty="0"/>
              <a:t>ASHRAE Fundamental 2021: Chapter 18 – Table 1</a:t>
            </a:r>
          </a:p>
          <a:p>
            <a:pPr lvl="1"/>
            <a:r>
              <a:rPr lang="en-CA" u="sng" dirty="0">
                <a:hlinkClick r:id="rId2"/>
              </a:rPr>
              <a:t>https://www.cambeep.eng.cam.ac.uk/system/files/documents/internalheat.pdf</a:t>
            </a:r>
            <a:endParaRPr lang="en-CA" dirty="0"/>
          </a:p>
          <a:p>
            <a:r>
              <a:rPr lang="en-CA" dirty="0"/>
              <a:t>Plug/process loads</a:t>
            </a:r>
          </a:p>
          <a:p>
            <a:pPr lvl="1"/>
            <a:r>
              <a:rPr lang="en-CA" dirty="0"/>
              <a:t>ASHRAE Fundamental 2021 - Chapter 18 - Table 4A to Table 11</a:t>
            </a:r>
          </a:p>
          <a:p>
            <a:pPr lvl="1"/>
            <a:r>
              <a:rPr lang="en-CA" u="sng" dirty="0">
                <a:hlinkClick r:id="rId3"/>
              </a:rPr>
              <a:t>http://hes-documentation.lbl.gov/calculation-methodology/calculation-of-energy-consumption/heating-and-cooling-calculation/internal-gains</a:t>
            </a:r>
            <a:endParaRPr lang="en-CA" u="sng" dirty="0"/>
          </a:p>
          <a:p>
            <a:r>
              <a:rPr lang="en-CA" dirty="0"/>
              <a:t>NBC 2020 – Table 9.36.5.4 for Residential Buildings </a:t>
            </a:r>
          </a:p>
          <a:p>
            <a:pPr lvl="1"/>
            <a:r>
              <a:rPr lang="en-CA" dirty="0">
                <a:hlinkClick r:id="rId4"/>
              </a:rPr>
              <a:t>NBC 2020 and NECB 2020</a:t>
            </a:r>
            <a:endParaRPr lang="en-CA" dirty="0"/>
          </a:p>
          <a:p>
            <a:pPr lvl="1"/>
            <a:r>
              <a:rPr lang="en-CA" dirty="0"/>
              <a:t>Code compliance modelling default</a:t>
            </a:r>
          </a:p>
        </p:txBody>
      </p:sp>
    </p:spTree>
    <p:extLst>
      <p:ext uri="{BB962C8B-B14F-4D97-AF65-F5344CB8AC3E}">
        <p14:creationId xmlns:p14="http://schemas.microsoft.com/office/powerpoint/2010/main" val="3739091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Schedules in </a:t>
            </a:r>
            <a:r>
              <a:rPr lang="en-CA" dirty="0" err="1"/>
              <a:t>Openstudio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Control equipment and events</a:t>
            </a:r>
          </a:p>
          <a:p>
            <a:r>
              <a:rPr lang="en-CA" dirty="0"/>
              <a:t>Control logic (1 for on, 0 for off)</a:t>
            </a:r>
          </a:p>
          <a:p>
            <a:r>
              <a:rPr lang="en-CA" dirty="0"/>
              <a:t>Temperature </a:t>
            </a:r>
            <a:r>
              <a:rPr lang="en-CA" dirty="0" err="1"/>
              <a:t>setpoints</a:t>
            </a:r>
            <a:endParaRPr lang="en-CA" dirty="0"/>
          </a:p>
          <a:p>
            <a:r>
              <a:rPr lang="en-CA" dirty="0"/>
              <a:t>Number of occupants</a:t>
            </a:r>
          </a:p>
          <a:p>
            <a:r>
              <a:rPr lang="en-CA" dirty="0"/>
              <a:t>Occupant activity level</a:t>
            </a:r>
          </a:p>
          <a:p>
            <a:r>
              <a:rPr lang="en-CA" dirty="0"/>
              <a:t>Temperature, power, fractions, dimensionless</a:t>
            </a:r>
          </a:p>
        </p:txBody>
      </p:sp>
    </p:spTree>
    <p:extLst>
      <p:ext uri="{BB962C8B-B14F-4D97-AF65-F5344CB8AC3E}">
        <p14:creationId xmlns:p14="http://schemas.microsoft.com/office/powerpoint/2010/main" val="56453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OpenStudio Exercise: Internal 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OS_exercise</a:t>
            </a:r>
            <a:r>
              <a:rPr lang="en-CA" dirty="0"/>
              <a:t> &gt; </a:t>
            </a:r>
            <a:r>
              <a:rPr lang="en-CA" dirty="0" err="1"/>
              <a:t>openstudio</a:t>
            </a:r>
            <a:r>
              <a:rPr lang="en-CA" dirty="0"/>
              <a:t>-gains</a:t>
            </a:r>
          </a:p>
          <a:p>
            <a:pPr lvl="1"/>
            <a:r>
              <a:rPr lang="en-CA" dirty="0"/>
              <a:t>5_os_internal_gains_exercise.pdf</a:t>
            </a:r>
          </a:p>
          <a:p>
            <a:pPr lvl="1"/>
            <a:r>
              <a:rPr lang="en-CA" dirty="0"/>
              <a:t>internal_gains_schedule_data.xlsx</a:t>
            </a:r>
          </a:p>
          <a:p>
            <a:pPr lvl="2"/>
            <a:r>
              <a:rPr lang="en-CA" dirty="0"/>
              <a:t>Heat gain fractions</a:t>
            </a:r>
          </a:p>
          <a:p>
            <a:pPr lvl="2"/>
            <a:r>
              <a:rPr lang="en-CA" dirty="0"/>
              <a:t>Occupant activity</a:t>
            </a:r>
          </a:p>
          <a:p>
            <a:pPr lvl="2"/>
            <a:r>
              <a:rPr lang="en-CA" dirty="0"/>
              <a:t>Schedule fractions</a:t>
            </a:r>
          </a:p>
          <a:p>
            <a:pPr lvl="1"/>
            <a:r>
              <a:rPr lang="en-CA" dirty="0"/>
              <a:t>internal_gain_reference_tables.pdf</a:t>
            </a:r>
          </a:p>
          <a:p>
            <a:pPr lvl="2"/>
            <a:r>
              <a:rPr lang="en-CA" dirty="0"/>
              <a:t>Data tables from ASHRAE Fundamentals and EnergyPlus I/O doc</a:t>
            </a:r>
          </a:p>
        </p:txBody>
      </p:sp>
    </p:spTree>
    <p:extLst>
      <p:ext uri="{BB962C8B-B14F-4D97-AF65-F5344CB8AC3E}">
        <p14:creationId xmlns:p14="http://schemas.microsoft.com/office/powerpoint/2010/main" val="3460656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 Overview of HVAC systems and 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Purpose: condition and ventilate a space</a:t>
            </a:r>
          </a:p>
          <a:p>
            <a:r>
              <a:rPr lang="en-CA" dirty="0"/>
              <a:t>Types of HVAC: Centralized and Decentralized</a:t>
            </a:r>
          </a:p>
          <a:p>
            <a:pPr lvl="1"/>
            <a:r>
              <a:rPr lang="en-CA" dirty="0"/>
              <a:t>Centralized</a:t>
            </a:r>
          </a:p>
          <a:p>
            <a:pPr lvl="2"/>
            <a:r>
              <a:rPr lang="en-CA" dirty="0"/>
              <a:t>Boiler + pump + baseboards/radiators </a:t>
            </a:r>
          </a:p>
          <a:p>
            <a:pPr lvl="2"/>
            <a:r>
              <a:rPr lang="en-CA" dirty="0"/>
              <a:t>Chillers + pumps + water coils</a:t>
            </a:r>
          </a:p>
          <a:p>
            <a:pPr lvl="1"/>
            <a:r>
              <a:rPr lang="en-CA" dirty="0"/>
              <a:t>Decentralized </a:t>
            </a:r>
          </a:p>
          <a:p>
            <a:pPr lvl="2"/>
            <a:r>
              <a:rPr lang="en-CA" dirty="0"/>
              <a:t>Window air conditioners</a:t>
            </a:r>
          </a:p>
          <a:p>
            <a:pPr lvl="2"/>
            <a:r>
              <a:rPr lang="en-CA" dirty="0"/>
              <a:t>Electric baseboards</a:t>
            </a:r>
          </a:p>
          <a:p>
            <a:r>
              <a:rPr lang="en-CA" dirty="0"/>
              <a:t>Packaged, Split, Unitary</a:t>
            </a:r>
          </a:p>
          <a:p>
            <a:pPr lvl="1"/>
            <a:r>
              <a:rPr lang="en-CA" dirty="0"/>
              <a:t>Interchangeable? </a:t>
            </a:r>
          </a:p>
          <a:p>
            <a:pPr lvl="1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34510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 Overview of HVAC systems and 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Unitary - An HVAC system comprised of one or more factory built assemblies</a:t>
            </a:r>
          </a:p>
          <a:p>
            <a:r>
              <a:rPr lang="en-CA" dirty="0"/>
              <a:t>Packaged – a single package</a:t>
            </a:r>
          </a:p>
          <a:p>
            <a:pPr marL="0" indent="0">
              <a:buNone/>
            </a:pPr>
            <a:endParaRPr lang="en-CA" dirty="0"/>
          </a:p>
          <a:p>
            <a:pPr marL="914400" lvl="2" indent="0">
              <a:buNone/>
            </a:pPr>
            <a:endParaRPr lang="en-CA" dirty="0"/>
          </a:p>
          <a:p>
            <a:pPr marL="914400" lvl="2" indent="0">
              <a:buNone/>
            </a:pPr>
            <a:endParaRPr lang="en-CA" dirty="0"/>
          </a:p>
          <a:p>
            <a:pPr lvl="2"/>
            <a:endParaRPr lang="en-CA" dirty="0"/>
          </a:p>
          <a:p>
            <a:endParaRPr lang="en-CA" dirty="0"/>
          </a:p>
          <a:p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endParaRPr lang="en-CA" dirty="0"/>
          </a:p>
        </p:txBody>
      </p:sp>
      <p:pic>
        <p:nvPicPr>
          <p:cNvPr id="4" name="Picture 3" descr="diagram of packaged HVAC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278" y="2847907"/>
            <a:ext cx="3793851" cy="358714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3926013" y="6435052"/>
            <a:ext cx="4360488" cy="2899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CA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9. Packaged system (Petro Home Services, 2023)</a:t>
            </a:r>
            <a:endParaRPr lang="en-CA" sz="12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875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 Overview of HVAC systems and 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1"/>
            <a:ext cx="6189483" cy="3921600"/>
          </a:xfrm>
        </p:spPr>
        <p:txBody>
          <a:bodyPr>
            <a:normAutofit/>
          </a:bodyPr>
          <a:lstStyle/>
          <a:p>
            <a:r>
              <a:rPr lang="en-CA" dirty="0"/>
              <a:t>Split system</a:t>
            </a:r>
          </a:p>
          <a:p>
            <a:pPr lvl="1"/>
            <a:r>
              <a:rPr lang="en-CA" dirty="0"/>
              <a:t>More than one assembly </a:t>
            </a:r>
          </a:p>
          <a:p>
            <a:pPr lvl="1"/>
            <a:r>
              <a:rPr lang="en-CA" dirty="0"/>
              <a:t>Indoor separated from outdoor</a:t>
            </a:r>
          </a:p>
          <a:p>
            <a:pPr lvl="1"/>
            <a:r>
              <a:rPr lang="en-CA" dirty="0"/>
              <a:t>Multi-split</a:t>
            </a:r>
          </a:p>
          <a:p>
            <a:pPr lvl="1"/>
            <a:r>
              <a:rPr lang="en-CA" dirty="0"/>
              <a:t>Ducted</a:t>
            </a:r>
          </a:p>
          <a:p>
            <a:pPr marL="914400" lvl="2" indent="0">
              <a:buNone/>
            </a:pPr>
            <a:endParaRPr lang="en-CA" dirty="0"/>
          </a:p>
          <a:p>
            <a:pPr marL="914400" lvl="2" indent="0">
              <a:buNone/>
            </a:pPr>
            <a:endParaRPr lang="en-CA" dirty="0"/>
          </a:p>
          <a:p>
            <a:pPr lvl="2"/>
            <a:endParaRPr lang="en-CA" dirty="0"/>
          </a:p>
          <a:p>
            <a:endParaRPr lang="en-CA" dirty="0"/>
          </a:p>
          <a:p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endParaRPr lang="en-CA" dirty="0"/>
          </a:p>
        </p:txBody>
      </p:sp>
      <p:pic>
        <p:nvPicPr>
          <p:cNvPr id="6" name="Picture 5" descr="diagram of split HVAC systems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307" y="1869600"/>
            <a:ext cx="4367385" cy="43673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7151157" y="6236985"/>
            <a:ext cx="4092787" cy="2899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CA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10. Split system (Petro Home Services, 2023)</a:t>
            </a:r>
            <a:endParaRPr lang="en-CA" sz="12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133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 Overview of HVAC systems and 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1"/>
            <a:ext cx="3976815" cy="3921600"/>
          </a:xfrm>
        </p:spPr>
        <p:txBody>
          <a:bodyPr>
            <a:normAutofit/>
          </a:bodyPr>
          <a:lstStyle/>
          <a:p>
            <a:r>
              <a:rPr lang="en-CA" dirty="0"/>
              <a:t>Split cont.</a:t>
            </a:r>
          </a:p>
          <a:p>
            <a:pPr lvl="1"/>
            <a:r>
              <a:rPr lang="en-CA" dirty="0"/>
              <a:t>Ductless </a:t>
            </a:r>
          </a:p>
          <a:p>
            <a:pPr marL="0" indent="0">
              <a:buNone/>
            </a:pPr>
            <a:endParaRPr lang="en-CA" dirty="0"/>
          </a:p>
          <a:p>
            <a:pPr marL="914400" lvl="2" indent="0">
              <a:buNone/>
            </a:pPr>
            <a:endParaRPr lang="en-CA" dirty="0"/>
          </a:p>
          <a:p>
            <a:pPr marL="914400" lvl="2" indent="0">
              <a:buNone/>
            </a:pPr>
            <a:endParaRPr lang="en-CA" dirty="0"/>
          </a:p>
          <a:p>
            <a:pPr lvl="2"/>
            <a:endParaRPr lang="en-CA" dirty="0"/>
          </a:p>
          <a:p>
            <a:endParaRPr lang="en-CA" dirty="0"/>
          </a:p>
          <a:p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endParaRPr lang="en-CA" dirty="0"/>
          </a:p>
        </p:txBody>
      </p:sp>
      <p:pic>
        <p:nvPicPr>
          <p:cNvPr id="5" name="Picture 4" descr="Indoor Unit (Evaporator), Ondoor Unit (Condensor)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231" y="1855139"/>
            <a:ext cx="3218255" cy="393606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6613252" y="5791201"/>
            <a:ext cx="4041491" cy="2899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CA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11. Mini-split (Fujitsu General , 2023)</a:t>
            </a:r>
            <a:endParaRPr lang="en-CA" sz="12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236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OpensTudio</a:t>
            </a:r>
            <a:r>
              <a:rPr lang="en-CA" dirty="0"/>
              <a:t> HVAC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Air and water based</a:t>
            </a:r>
          </a:p>
          <a:p>
            <a:pPr lvl="1"/>
            <a:r>
              <a:rPr lang="en-CA" dirty="0"/>
              <a:t>Conditioning air/water and circulating it</a:t>
            </a:r>
          </a:p>
          <a:p>
            <a:pPr lvl="1"/>
            <a:r>
              <a:rPr lang="en-CA" dirty="0"/>
              <a:t>Sometimes brine instead of water</a:t>
            </a:r>
          </a:p>
          <a:p>
            <a:r>
              <a:rPr lang="en-CA" dirty="0"/>
              <a:t>Fundamental/component level view</a:t>
            </a:r>
          </a:p>
          <a:p>
            <a:r>
              <a:rPr lang="en-CA" dirty="0"/>
              <a:t>Heating</a:t>
            </a:r>
          </a:p>
          <a:p>
            <a:pPr lvl="1"/>
            <a:r>
              <a:rPr lang="en-CA" dirty="0"/>
              <a:t>Electric coil, gas coil, direct expansion coil, water coil</a:t>
            </a:r>
          </a:p>
          <a:p>
            <a:r>
              <a:rPr lang="en-CA" dirty="0"/>
              <a:t>Cooling</a:t>
            </a:r>
          </a:p>
          <a:p>
            <a:pPr lvl="1"/>
            <a:r>
              <a:rPr lang="en-CA" dirty="0"/>
              <a:t>Cooling tower, chiller, direct expansion coil, water coil</a:t>
            </a:r>
          </a:p>
          <a:p>
            <a:pPr lvl="1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23745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Ventilation: HRV &amp; ERV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Introduce outdoor air</a:t>
            </a:r>
          </a:p>
          <a:p>
            <a:endParaRPr lang="en-CA" dirty="0"/>
          </a:p>
          <a:p>
            <a:r>
              <a:rPr lang="en-CA" dirty="0"/>
              <a:t>Exhaust stale indoor air </a:t>
            </a:r>
          </a:p>
          <a:p>
            <a:endParaRPr lang="en-CA" dirty="0"/>
          </a:p>
          <a:p>
            <a:r>
              <a:rPr lang="en-CA" dirty="0"/>
              <a:t>Opportunity to save energy by preheat/cooling </a:t>
            </a:r>
          </a:p>
          <a:p>
            <a:pPr lvl="1"/>
            <a:r>
              <a:rPr lang="en-CA" dirty="0"/>
              <a:t>Heat recovery ventilator (HRV)</a:t>
            </a:r>
          </a:p>
          <a:p>
            <a:pPr lvl="1"/>
            <a:r>
              <a:rPr lang="en-CA" dirty="0"/>
              <a:t>Energy recovery ventilator (ERV)</a:t>
            </a:r>
          </a:p>
        </p:txBody>
      </p:sp>
    </p:spTree>
    <p:extLst>
      <p:ext uri="{BB962C8B-B14F-4D97-AF65-F5344CB8AC3E}">
        <p14:creationId xmlns:p14="http://schemas.microsoft.com/office/powerpoint/2010/main" val="1546431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Ventilation: HRV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448" y="1940827"/>
            <a:ext cx="6187976" cy="35283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8497" y="2232454"/>
            <a:ext cx="41848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Thermal energy only </a:t>
            </a:r>
            <a:r>
              <a:rPr lang="en-CA" dirty="0">
                <a:sym typeface="Wingdings" panose="05000000000000000000" pitchFamily="2" charset="2"/>
              </a:rPr>
              <a:t> heat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ym typeface="Wingdings" panose="05000000000000000000" pitchFamily="2" charset="2"/>
              </a:rPr>
              <a:t>Leakage (cross contamination)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6231670" y="5469193"/>
            <a:ext cx="4799712" cy="2899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12. ERV schematic (U.S. Department of Energy, 2021)</a:t>
            </a:r>
            <a:endParaRPr lang="en-CA" sz="12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759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Ventilation: ERV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Heat and moisture </a:t>
            </a:r>
            <a:r>
              <a:rPr lang="en-CA" dirty="0">
                <a:sym typeface="Wingdings" panose="05000000000000000000" pitchFamily="2" charset="2"/>
              </a:rPr>
              <a:t> energy exchange</a:t>
            </a:r>
            <a:endParaRPr lang="en-CA" dirty="0"/>
          </a:p>
          <a:p>
            <a:r>
              <a:rPr lang="en-CA" dirty="0"/>
              <a:t>ERV core</a:t>
            </a:r>
          </a:p>
          <a:p>
            <a:pPr lvl="1"/>
            <a:r>
              <a:rPr lang="en-CA" dirty="0"/>
              <a:t>Cross flow</a:t>
            </a:r>
          </a:p>
          <a:p>
            <a:pPr lvl="1"/>
            <a:r>
              <a:rPr lang="en-CA" dirty="0"/>
              <a:t>Moisture wicking material</a:t>
            </a:r>
          </a:p>
          <a:p>
            <a:r>
              <a:rPr lang="en-CA" dirty="0"/>
              <a:t>Enthalpy wheel</a:t>
            </a:r>
          </a:p>
          <a:p>
            <a:pPr lvl="1"/>
            <a:r>
              <a:rPr lang="en-CA" dirty="0"/>
              <a:t>Rotating wheel</a:t>
            </a:r>
          </a:p>
          <a:p>
            <a:pPr lvl="1"/>
            <a:r>
              <a:rPr lang="en-CA" dirty="0"/>
              <a:t>Same type of material as a core</a:t>
            </a:r>
          </a:p>
          <a:p>
            <a:pPr lvl="1"/>
            <a:r>
              <a:rPr lang="en-CA" dirty="0">
                <a:hlinkClick r:id="rId2"/>
              </a:rPr>
              <a:t>Inside view </a:t>
            </a:r>
            <a:endParaRPr lang="en-CA" dirty="0"/>
          </a:p>
          <a:p>
            <a:r>
              <a:rPr lang="en-CA" dirty="0"/>
              <a:t>Cross contamination </a:t>
            </a: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474940" y="1869600"/>
            <a:ext cx="5128449" cy="31825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28889" y="5052134"/>
            <a:ext cx="4820550" cy="2899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CA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13. ERV core (Mitsubishi Electric Sales Canada, 2021)</a:t>
            </a:r>
            <a:endParaRPr lang="en-CA" sz="1200" dirty="0"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15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Examples of HVAC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/>
                  <a:t>Central air conditioner (AC) and furnace</a:t>
                </a:r>
              </a:p>
              <a:p>
                <a:pPr lvl="1"/>
                <a:r>
                  <a:rPr lang="en-CA" dirty="0"/>
                  <a:t>Common</a:t>
                </a:r>
              </a:p>
              <a:p>
                <a:pPr lvl="1"/>
                <a:r>
                  <a:rPr lang="en-CA" dirty="0"/>
                  <a:t>Single package or separate equipment </a:t>
                </a:r>
              </a:p>
              <a:p>
                <a:pPr marL="457200" lvl="1" indent="0">
                  <a:buNone/>
                </a:pPr>
                <a:endParaRPr lang="en-CA" dirty="0"/>
              </a:p>
              <a:p>
                <a:r>
                  <a:rPr lang="en-CA" dirty="0"/>
                  <a:t>Cold climate air source heat pump </a:t>
                </a:r>
              </a:p>
              <a:p>
                <a:pPr lvl="1"/>
                <a:r>
                  <a:rPr lang="en-CA" dirty="0"/>
                  <a:t>70% of the 8.3 </a:t>
                </a:r>
                <a:r>
                  <a:rPr lang="en-CA" baseline="30000" dirty="0" err="1"/>
                  <a:t>o</a:t>
                </a:r>
                <a:r>
                  <a:rPr lang="en-CA" dirty="0" err="1"/>
                  <a:t>C</a:t>
                </a:r>
                <a:r>
                  <a:rPr lang="en-CA" dirty="0"/>
                  <a:t> rated capacity @ -15 </a:t>
                </a:r>
                <a:r>
                  <a:rPr lang="en-CA" baseline="30000" dirty="0" err="1"/>
                  <a:t>o</a:t>
                </a:r>
                <a:r>
                  <a:rPr lang="en-CA" dirty="0" err="1"/>
                  <a:t>C</a:t>
                </a:r>
                <a:endParaRPr lang="en-CA" dirty="0"/>
              </a:p>
              <a:p>
                <a:pPr lvl="1"/>
                <a:r>
                  <a:rPr lang="en-CA" dirty="0"/>
                  <a:t>COP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CA" dirty="0"/>
                  <a:t> 1.8 @ -15 </a:t>
                </a:r>
                <a:r>
                  <a:rPr lang="en-CA" baseline="30000" dirty="0" err="1"/>
                  <a:t>o</a:t>
                </a:r>
                <a:r>
                  <a:rPr lang="en-CA" dirty="0" err="1"/>
                  <a:t>C</a:t>
                </a:r>
                <a:endParaRPr lang="en-CA" dirty="0"/>
              </a:p>
              <a:p>
                <a:endParaRPr lang="en-CA" dirty="0"/>
              </a:p>
              <a:p>
                <a:pPr lvl="1"/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94" t="-9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2460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Openstudio</a:t>
            </a:r>
            <a:r>
              <a:rPr lang="en-CA" dirty="0"/>
              <a:t> exercise: HVAC + DHW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69601"/>
            <a:ext cx="5877369" cy="4898668"/>
          </a:xfrm>
        </p:spPr>
        <p:txBody>
          <a:bodyPr>
            <a:normAutofit fontScale="70000" lnSpcReduction="20000"/>
          </a:bodyPr>
          <a:lstStyle/>
          <a:p>
            <a:r>
              <a:rPr lang="en-CA" dirty="0"/>
              <a:t>Constant volume central air conditioner with a natural gas furnace</a:t>
            </a:r>
          </a:p>
          <a:p>
            <a:pPr lvl="1"/>
            <a:r>
              <a:rPr lang="en-CA" dirty="0"/>
              <a:t>Air conditioner: COP 3</a:t>
            </a:r>
          </a:p>
          <a:p>
            <a:pPr lvl="1"/>
            <a:r>
              <a:rPr lang="en-CA" dirty="0"/>
              <a:t>Condensing furnace: AFUE 96%</a:t>
            </a:r>
          </a:p>
          <a:p>
            <a:pPr lvl="1"/>
            <a:r>
              <a:rPr lang="en-CA" dirty="0"/>
              <a:t>Rotary ERV (~ 50% effectiveness</a:t>
            </a:r>
          </a:p>
          <a:p>
            <a:pPr lvl="1"/>
            <a:r>
              <a:rPr lang="en-CA" dirty="0"/>
              <a:t>Only first and second floor conditioned</a:t>
            </a:r>
          </a:p>
          <a:p>
            <a:pPr lvl="1"/>
            <a:r>
              <a:rPr lang="en-CA" dirty="0"/>
              <a:t>Single thermostat</a:t>
            </a:r>
          </a:p>
          <a:p>
            <a:pPr lvl="2"/>
            <a:r>
              <a:rPr lang="en-CA" dirty="0"/>
              <a:t>Heating: 21 </a:t>
            </a:r>
            <a:r>
              <a:rPr lang="en-CA" baseline="30000" dirty="0" err="1"/>
              <a:t>o</a:t>
            </a:r>
            <a:r>
              <a:rPr lang="en-CA" dirty="0" err="1"/>
              <a:t>C</a:t>
            </a:r>
            <a:r>
              <a:rPr lang="en-CA" dirty="0"/>
              <a:t>; Cooling: 24 </a:t>
            </a:r>
            <a:r>
              <a:rPr lang="en-CA" baseline="30000" dirty="0" err="1"/>
              <a:t>o</a:t>
            </a:r>
            <a:r>
              <a:rPr lang="en-CA" dirty="0" err="1"/>
              <a:t>C</a:t>
            </a:r>
            <a:endParaRPr lang="en-CA" dirty="0"/>
          </a:p>
          <a:p>
            <a:r>
              <a:rPr lang="en-CA" dirty="0"/>
              <a:t>Domestic hot water</a:t>
            </a:r>
          </a:p>
          <a:p>
            <a:pPr lvl="1"/>
            <a:r>
              <a:rPr lang="en-CA" dirty="0"/>
              <a:t>Demand</a:t>
            </a:r>
          </a:p>
          <a:p>
            <a:pPr lvl="2"/>
            <a:r>
              <a:rPr lang="en-CA" dirty="0"/>
              <a:t>Peak flow demand: 0.000083 ~ 300 L/hr</a:t>
            </a:r>
          </a:p>
          <a:p>
            <a:pPr lvl="2"/>
            <a:r>
              <a:rPr lang="en-CA" dirty="0" err="1"/>
              <a:t>OS_exercises</a:t>
            </a:r>
            <a:r>
              <a:rPr lang="en-CA" dirty="0"/>
              <a:t> &gt; </a:t>
            </a:r>
            <a:r>
              <a:rPr lang="en-CA" dirty="0" err="1"/>
              <a:t>openstudio-hvac</a:t>
            </a:r>
            <a:endParaRPr lang="en-CA" dirty="0"/>
          </a:p>
          <a:p>
            <a:pPr lvl="3"/>
            <a:r>
              <a:rPr lang="en-CA" dirty="0" err="1"/>
              <a:t>dhw_load_profile.osm</a:t>
            </a:r>
            <a:endParaRPr lang="en-CA" dirty="0"/>
          </a:p>
          <a:p>
            <a:pPr lvl="1"/>
            <a:r>
              <a:rPr lang="en-CA" dirty="0"/>
              <a:t>Electric water heater</a:t>
            </a:r>
          </a:p>
          <a:p>
            <a:pPr lvl="2"/>
            <a:r>
              <a:rPr lang="en-CA" dirty="0"/>
              <a:t>UA-factor: 1.3 W/K</a:t>
            </a:r>
          </a:p>
          <a:p>
            <a:pPr lvl="2"/>
            <a:r>
              <a:rPr lang="en-CA" dirty="0"/>
              <a:t>100 % efficiency</a:t>
            </a:r>
          </a:p>
          <a:p>
            <a:pPr lvl="2"/>
            <a:r>
              <a:rPr lang="en-CA" dirty="0"/>
              <a:t>Located in </a:t>
            </a:r>
            <a:r>
              <a:rPr lang="en-CA" dirty="0" err="1"/>
              <a:t>first_storey</a:t>
            </a:r>
            <a:endParaRPr lang="en-CA" dirty="0"/>
          </a:p>
          <a:p>
            <a:pPr lvl="2"/>
            <a:r>
              <a:rPr lang="en-CA" dirty="0"/>
              <a:t>2 hour recovery (for sizing)</a:t>
            </a:r>
          </a:p>
          <a:p>
            <a:pPr lvl="1"/>
            <a:r>
              <a:rPr lang="en-CA" dirty="0"/>
              <a:t>Pump head 300 Pa</a:t>
            </a:r>
          </a:p>
          <a:p>
            <a:pPr lvl="1"/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293643"/>
              </p:ext>
            </p:extLst>
          </p:nvPr>
        </p:nvGraphicFramePr>
        <p:xfrm>
          <a:off x="7635987" y="3356837"/>
          <a:ext cx="3560849" cy="690253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1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</a:rPr>
                        <a:t>Zone</a:t>
                      </a:r>
                      <a:endParaRPr lang="en-CA" sz="1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</a:rPr>
                        <a:t>Volume (m</a:t>
                      </a:r>
                      <a:r>
                        <a:rPr lang="en-CA" sz="1100" baseline="30000">
                          <a:effectLst/>
                        </a:rPr>
                        <a:t>3</a:t>
                      </a:r>
                      <a:r>
                        <a:rPr lang="en-CA" sz="1100">
                          <a:effectLst/>
                        </a:rPr>
                        <a:t>)</a:t>
                      </a:r>
                      <a:endParaRPr lang="en-CA" sz="1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</a:rPr>
                        <a:t>ELA (cm</a:t>
                      </a:r>
                      <a:r>
                        <a:rPr lang="en-CA" sz="1100" baseline="30000" dirty="0">
                          <a:effectLst/>
                        </a:rPr>
                        <a:t>2</a:t>
                      </a:r>
                      <a:r>
                        <a:rPr lang="en-CA" sz="1100" dirty="0">
                          <a:effectLst/>
                        </a:rPr>
                        <a:t>)</a:t>
                      </a:r>
                      <a:endParaRPr lang="en-CA" sz="1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8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</a:rPr>
                        <a:t>Attic</a:t>
                      </a:r>
                      <a:endParaRPr lang="en-CA" sz="1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</a:rPr>
                        <a:t>259.01</a:t>
                      </a:r>
                      <a:endParaRPr lang="en-CA" sz="1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</a:rPr>
                        <a:t>51</a:t>
                      </a:r>
                      <a:endParaRPr lang="en-CA" sz="1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8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</a:rPr>
                        <a:t>First_storey</a:t>
                      </a:r>
                      <a:endParaRPr lang="en-CA" sz="1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</a:rPr>
                        <a:t>199.14</a:t>
                      </a:r>
                      <a:endParaRPr lang="en-CA" sz="1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</a:rPr>
                        <a:t>40</a:t>
                      </a:r>
                      <a:endParaRPr lang="en-CA" sz="1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8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100" dirty="0" err="1">
                          <a:effectLst/>
                        </a:rPr>
                        <a:t>Second_storey</a:t>
                      </a:r>
                      <a:endParaRPr lang="en-CA" sz="1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</a:rPr>
                        <a:t>217.92</a:t>
                      </a:r>
                      <a:endParaRPr lang="en-CA" sz="1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</a:rPr>
                        <a:t>43</a:t>
                      </a:r>
                      <a:endParaRPr lang="en-CA" sz="1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63170" y="1869600"/>
            <a:ext cx="54009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Misc.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Air leakage test results: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CA" dirty="0"/>
              <a:t>Whole building ELA = 134 cm</a:t>
            </a:r>
            <a:r>
              <a:rPr lang="en-CA" baseline="30000" dirty="0"/>
              <a:t>2</a:t>
            </a:r>
            <a:endParaRPr lang="en-CA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CA" dirty="0"/>
              <a:t>Assume cracks/gaps uniformly distributed based on volume</a:t>
            </a:r>
          </a:p>
          <a:p>
            <a:pPr lvl="3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03301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Things to be mindful 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1"/>
            <a:ext cx="10591799" cy="3921600"/>
          </a:xfrm>
        </p:spPr>
        <p:txBody>
          <a:bodyPr/>
          <a:lstStyle/>
          <a:p>
            <a:r>
              <a:rPr lang="en-CA" dirty="0"/>
              <a:t>NZER </a:t>
            </a:r>
            <a:r>
              <a:rPr lang="en-CA" dirty="0">
                <a:sym typeface="Wingdings" panose="05000000000000000000" pitchFamily="2" charset="2"/>
              </a:rPr>
              <a:t> low EUI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ERV defrost model limited (no degradation due to ice)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Ground temperature 18</a:t>
            </a:r>
            <a:r>
              <a:rPr lang="en-CA" baseline="30000" dirty="0"/>
              <a:t>o</a:t>
            </a:r>
            <a:r>
              <a:rPr lang="en-CA" dirty="0"/>
              <a:t>C</a:t>
            </a:r>
          </a:p>
          <a:p>
            <a:pPr lvl="2"/>
            <a:r>
              <a:rPr lang="en-CA" dirty="0"/>
              <a:t>Difficult to capture</a:t>
            </a:r>
          </a:p>
          <a:p>
            <a:pPr lvl="2"/>
            <a:r>
              <a:rPr lang="en-CA" dirty="0"/>
              <a:t>Kiva model</a:t>
            </a:r>
          </a:p>
          <a:p>
            <a:r>
              <a:rPr lang="en-CA" dirty="0"/>
              <a:t>HVAC control is basic</a:t>
            </a:r>
          </a:p>
          <a:p>
            <a:pPr lvl="1"/>
            <a:r>
              <a:rPr lang="en-CA" dirty="0"/>
              <a:t>EnergyPlus EMS</a:t>
            </a:r>
          </a:p>
          <a:p>
            <a:r>
              <a:rPr lang="en-CA" dirty="0"/>
              <a:t>Rigid loop structure </a:t>
            </a:r>
          </a:p>
          <a:p>
            <a:r>
              <a:rPr lang="en-CA" dirty="0"/>
              <a:t>Limited features in OpenStudio App</a:t>
            </a:r>
          </a:p>
          <a:p>
            <a:r>
              <a:rPr lang="en-CA" dirty="0"/>
              <a:t>Work-a-rounds</a:t>
            </a:r>
          </a:p>
        </p:txBody>
      </p:sp>
    </p:spTree>
    <p:extLst>
      <p:ext uri="{BB962C8B-B14F-4D97-AF65-F5344CB8AC3E}">
        <p14:creationId xmlns:p14="http://schemas.microsoft.com/office/powerpoint/2010/main" val="3013113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Openstudio</a:t>
            </a:r>
            <a:r>
              <a:rPr lang="en-CA" dirty="0"/>
              <a:t> (EnergyPlus)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EnergyPlus output files</a:t>
            </a:r>
          </a:p>
          <a:p>
            <a:r>
              <a:rPr lang="en-CA" dirty="0" err="1"/>
              <a:t>DesignBuilder</a:t>
            </a:r>
            <a:r>
              <a:rPr lang="en-CA" dirty="0"/>
              <a:t> results viewer (free)</a:t>
            </a:r>
          </a:p>
          <a:p>
            <a:r>
              <a:rPr lang="en-CA" dirty="0"/>
              <a:t>EnergyPlus Reports</a:t>
            </a:r>
          </a:p>
          <a:p>
            <a:pPr lvl="1"/>
            <a:r>
              <a:rPr lang="en-CA" dirty="0"/>
              <a:t>Summary tables</a:t>
            </a:r>
          </a:p>
          <a:p>
            <a:pPr lvl="1"/>
            <a:r>
              <a:rPr lang="en-CA" dirty="0"/>
              <a:t>LEED summary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0188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BEM and Standards/Guidelines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ASHRAE Standard 140 </a:t>
            </a:r>
          </a:p>
          <a:p>
            <a:pPr lvl="1"/>
            <a:r>
              <a:rPr lang="en-CA" dirty="0"/>
              <a:t>“Pseudo-standard” for BEM</a:t>
            </a:r>
          </a:p>
          <a:p>
            <a:r>
              <a:rPr lang="en-CA" dirty="0"/>
              <a:t>ASHARE Guideline 14 (calibration)</a:t>
            </a:r>
          </a:p>
          <a:p>
            <a:pPr lvl="1"/>
            <a:r>
              <a:rPr lang="en-CA" dirty="0"/>
              <a:t>Procedure and standard for estimating energy, water and demand savings</a:t>
            </a:r>
          </a:p>
          <a:p>
            <a:pPr lvl="1"/>
            <a:r>
              <a:rPr lang="en-CA" dirty="0"/>
              <a:t>Normalized mean bias error (NME)– 10%</a:t>
            </a:r>
          </a:p>
          <a:p>
            <a:pPr lvl="1"/>
            <a:r>
              <a:rPr lang="en-CA" dirty="0"/>
              <a:t>Coefficient of variation of the root-mean-square error (CV-RSME)– 30%</a:t>
            </a:r>
          </a:p>
          <a:p>
            <a:r>
              <a:rPr lang="en-CA" dirty="0"/>
              <a:t>Ruleset schema and checker – ASHRAE P229</a:t>
            </a:r>
          </a:p>
          <a:p>
            <a:pPr lvl="1"/>
            <a:r>
              <a:rPr lang="en-CA" dirty="0"/>
              <a:t>Common ruleset model report (RMR) schema</a:t>
            </a:r>
          </a:p>
          <a:p>
            <a:pPr lvl="1"/>
            <a:r>
              <a:rPr lang="en-CA" dirty="0"/>
              <a:t>Ruleset checking tool (RCT)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57463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OpenStudio references and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671480"/>
            <a:ext cx="10840914" cy="4591021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EnergyPlus Documentation</a:t>
            </a:r>
          </a:p>
          <a:p>
            <a:pPr lvl="1"/>
            <a:r>
              <a:rPr lang="en-CA" dirty="0">
                <a:hlinkClick r:id="rId2"/>
              </a:rPr>
              <a:t>EnergyPlus web-based documentation </a:t>
            </a:r>
            <a:endParaRPr lang="en-CA" dirty="0"/>
          </a:p>
          <a:p>
            <a:pPr lvl="1"/>
            <a:r>
              <a:rPr lang="en-CA" dirty="0">
                <a:hlinkClick r:id="rId3"/>
              </a:rPr>
              <a:t>Official </a:t>
            </a:r>
            <a:r>
              <a:rPr lang="en-CA" dirty="0" err="1">
                <a:hlinkClick r:id="rId3"/>
              </a:rPr>
              <a:t>Quickstart</a:t>
            </a:r>
            <a:endParaRPr lang="en-CA" dirty="0"/>
          </a:p>
          <a:p>
            <a:pPr lvl="1"/>
            <a:r>
              <a:rPr lang="en-CA" dirty="0">
                <a:hlinkClick r:id="rId4"/>
              </a:rPr>
              <a:t>Lecture </a:t>
            </a:r>
            <a:r>
              <a:rPr lang="en-CA" dirty="0" err="1">
                <a:hlinkClick r:id="rId4"/>
              </a:rPr>
              <a:t>ppt</a:t>
            </a:r>
            <a:r>
              <a:rPr lang="en-CA" dirty="0">
                <a:hlinkClick r:id="rId4"/>
              </a:rPr>
              <a:t> </a:t>
            </a:r>
            <a:endParaRPr lang="en-CA" dirty="0"/>
          </a:p>
          <a:p>
            <a:pPr lvl="1"/>
            <a:r>
              <a:rPr lang="en-CA" dirty="0">
                <a:hlinkClick r:id="rId5"/>
              </a:rPr>
              <a:t>Kiva ground heat transfer model</a:t>
            </a:r>
            <a:endParaRPr lang="en-CA" dirty="0"/>
          </a:p>
          <a:p>
            <a:r>
              <a:rPr lang="en-CA" dirty="0"/>
              <a:t>OpenStudio Documentation</a:t>
            </a:r>
          </a:p>
          <a:p>
            <a:pPr lvl="1"/>
            <a:r>
              <a:rPr lang="en-CA" dirty="0">
                <a:hlinkClick r:id="rId6"/>
              </a:rPr>
              <a:t>OpenStudio App + SketchUp for OS</a:t>
            </a:r>
            <a:endParaRPr lang="en-CA" dirty="0"/>
          </a:p>
          <a:p>
            <a:pPr lvl="1"/>
            <a:r>
              <a:rPr lang="en-CA" dirty="0"/>
              <a:t>YouTube</a:t>
            </a:r>
          </a:p>
          <a:p>
            <a:pPr lvl="2"/>
            <a:r>
              <a:rPr lang="en-CA" dirty="0">
                <a:hlinkClick r:id="rId7"/>
              </a:rPr>
              <a:t>OpenStudio + SketchUp</a:t>
            </a:r>
            <a:endParaRPr lang="en-CA" dirty="0"/>
          </a:p>
          <a:p>
            <a:pPr lvl="2"/>
            <a:r>
              <a:rPr lang="en-CA" dirty="0">
                <a:hlinkClick r:id="rId8"/>
              </a:rPr>
              <a:t>NREL</a:t>
            </a:r>
            <a:r>
              <a:rPr lang="en-CA" dirty="0"/>
              <a:t> </a:t>
            </a:r>
          </a:p>
          <a:p>
            <a:pPr lvl="1"/>
            <a:r>
              <a:rPr lang="en-CA" dirty="0">
                <a:hlinkClick r:id="rId9"/>
              </a:rPr>
              <a:t>OpenStudio SDK</a:t>
            </a:r>
            <a:endParaRPr lang="en-CA" dirty="0"/>
          </a:p>
          <a:p>
            <a:r>
              <a:rPr lang="en-CA" dirty="0"/>
              <a:t>OpenStudio Support </a:t>
            </a:r>
          </a:p>
          <a:p>
            <a:pPr lvl="1"/>
            <a:r>
              <a:rPr lang="en-CA" dirty="0">
                <a:hlinkClick r:id="rId10"/>
              </a:rPr>
              <a:t>Unmet Hours</a:t>
            </a:r>
            <a:endParaRPr lang="en-CA" dirty="0"/>
          </a:p>
          <a:p>
            <a:pPr lvl="1"/>
            <a:r>
              <a:rPr lang="en-CA" dirty="0">
                <a:hlinkClick r:id="rId11"/>
              </a:rPr>
              <a:t>Energy Models</a:t>
            </a:r>
            <a:endParaRPr lang="en-CA" dirty="0"/>
          </a:p>
          <a:p>
            <a:r>
              <a:rPr lang="en-CA" dirty="0"/>
              <a:t>EnergyPlus Support</a:t>
            </a:r>
          </a:p>
          <a:p>
            <a:pPr lvl="1"/>
            <a:r>
              <a:rPr lang="en-CA" dirty="0">
                <a:hlinkClick r:id="rId12"/>
              </a:rPr>
              <a:t>Official EnergyPlus Support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4734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Energy Conservation Measures (ECM)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0"/>
            <a:ext cx="10840914" cy="4209923"/>
          </a:xfrm>
        </p:spPr>
        <p:txBody>
          <a:bodyPr>
            <a:normAutofit/>
          </a:bodyPr>
          <a:lstStyle/>
          <a:p>
            <a:r>
              <a:rPr lang="en-CA" dirty="0"/>
              <a:t>aka Energy efficiency measures (EEM)</a:t>
            </a:r>
          </a:p>
          <a:p>
            <a:r>
              <a:rPr lang="en-CA" dirty="0"/>
              <a:t>Strategies for saving energy</a:t>
            </a:r>
          </a:p>
          <a:p>
            <a:pPr lvl="1"/>
            <a:r>
              <a:rPr lang="en-CA" dirty="0"/>
              <a:t>Upgrade</a:t>
            </a:r>
          </a:p>
          <a:p>
            <a:pPr lvl="1"/>
            <a:r>
              <a:rPr lang="en-CA" dirty="0"/>
              <a:t>New system</a:t>
            </a:r>
          </a:p>
          <a:p>
            <a:pPr lvl="1"/>
            <a:r>
              <a:rPr lang="en-CA" dirty="0"/>
              <a:t>Repair?</a:t>
            </a:r>
          </a:p>
          <a:p>
            <a:r>
              <a:rPr lang="en-CA" dirty="0"/>
              <a:t>Examples</a:t>
            </a:r>
          </a:p>
          <a:p>
            <a:pPr lvl="1"/>
            <a:r>
              <a:rPr lang="en-CA" dirty="0"/>
              <a:t>Windows &amp; insulation </a:t>
            </a:r>
          </a:p>
          <a:p>
            <a:pPr lvl="1"/>
            <a:r>
              <a:rPr lang="en-CA" dirty="0"/>
              <a:t>Better boiler/water heater/fans</a:t>
            </a:r>
          </a:p>
          <a:p>
            <a:pPr lvl="1"/>
            <a:r>
              <a:rPr lang="en-CA" dirty="0"/>
              <a:t>Window-wall ratio </a:t>
            </a:r>
          </a:p>
          <a:p>
            <a:pPr lvl="1"/>
            <a:r>
              <a:rPr lang="en-CA" dirty="0"/>
              <a:t>Leakage control</a:t>
            </a:r>
          </a:p>
          <a:p>
            <a:pPr lvl="1"/>
            <a:r>
              <a:rPr lang="en-CA" dirty="0"/>
              <a:t>Better control/automation </a:t>
            </a:r>
          </a:p>
        </p:txBody>
      </p:sp>
    </p:spTree>
    <p:extLst>
      <p:ext uri="{BB962C8B-B14F-4D97-AF65-F5344CB8AC3E}">
        <p14:creationId xmlns:p14="http://schemas.microsoft.com/office/powerpoint/2010/main" val="9939949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Applying ECM in </a:t>
            </a:r>
            <a:r>
              <a:rPr lang="en-CA" dirty="0" err="1"/>
              <a:t>Openstudio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Changing insulation</a:t>
            </a:r>
          </a:p>
          <a:p>
            <a:pPr lvl="1"/>
            <a:r>
              <a:rPr lang="en-CA" dirty="0"/>
              <a:t>Increase material thickness</a:t>
            </a:r>
          </a:p>
          <a:p>
            <a:pPr lvl="1"/>
            <a:r>
              <a:rPr lang="en-CA" dirty="0"/>
              <a:t>Swap material</a:t>
            </a:r>
          </a:p>
          <a:p>
            <a:pPr lvl="1"/>
            <a:r>
              <a:rPr lang="en-CA" dirty="0"/>
              <a:t>New construction</a:t>
            </a:r>
          </a:p>
          <a:p>
            <a:r>
              <a:rPr lang="en-CA" dirty="0"/>
              <a:t>Changing the window-wall ratio</a:t>
            </a:r>
          </a:p>
          <a:p>
            <a:pPr lvl="1"/>
            <a:r>
              <a:rPr lang="en-CA" dirty="0"/>
              <a:t>Delete/add new window (re-draw)</a:t>
            </a:r>
          </a:p>
          <a:p>
            <a:r>
              <a:rPr lang="en-CA" dirty="0"/>
              <a:t>OpenStudio Measures </a:t>
            </a:r>
          </a:p>
          <a:p>
            <a:pPr lvl="1"/>
            <a:r>
              <a:rPr lang="en-CA" dirty="0"/>
              <a:t>De-risk, synergize, scale</a:t>
            </a:r>
          </a:p>
          <a:p>
            <a:pPr lvl="2"/>
            <a:r>
              <a:rPr lang="en-CA" dirty="0"/>
              <a:t>More data, consistency, productivity, shareable</a:t>
            </a:r>
          </a:p>
          <a:p>
            <a:pPr lvl="1"/>
            <a:r>
              <a:rPr lang="en-CA" dirty="0"/>
              <a:t>Commands delete/add/swap/alter a model </a:t>
            </a:r>
            <a:r>
              <a:rPr lang="en-CA" dirty="0">
                <a:sym typeface="Wingdings" panose="05000000000000000000" pitchFamily="2" charset="2"/>
              </a:rPr>
              <a:t> single package</a:t>
            </a:r>
            <a:endParaRPr lang="en-CA" dirty="0"/>
          </a:p>
          <a:p>
            <a:pPr lvl="1"/>
            <a:r>
              <a:rPr lang="en-CA" dirty="0"/>
              <a:t>Go through an example</a:t>
            </a:r>
          </a:p>
        </p:txBody>
      </p:sp>
    </p:spTree>
    <p:extLst>
      <p:ext uri="{BB962C8B-B14F-4D97-AF65-F5344CB8AC3E}">
        <p14:creationId xmlns:p14="http://schemas.microsoft.com/office/powerpoint/2010/main" val="26790647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OpenStudio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Ruby script</a:t>
            </a:r>
          </a:p>
          <a:p>
            <a:pPr lvl="1"/>
            <a:r>
              <a:rPr lang="en-CA" dirty="0"/>
              <a:t>Instructions that control programs</a:t>
            </a:r>
          </a:p>
          <a:p>
            <a:pPr lvl="1"/>
            <a:r>
              <a:rPr lang="en-CA" dirty="0"/>
              <a:t>Interpreted vs compiled (program)</a:t>
            </a:r>
          </a:p>
          <a:p>
            <a:pPr lvl="1"/>
            <a:r>
              <a:rPr lang="en-CA" dirty="0"/>
              <a:t>Ruby is an interpreted language e.g. python, </a:t>
            </a:r>
            <a:r>
              <a:rPr lang="en-CA" dirty="0" err="1"/>
              <a:t>matlab</a:t>
            </a:r>
            <a:r>
              <a:rPr lang="en-CA" dirty="0"/>
              <a:t>, </a:t>
            </a:r>
            <a:r>
              <a:rPr lang="en-CA" dirty="0" err="1"/>
              <a:t>javascript</a:t>
            </a:r>
            <a:endParaRPr lang="en-CA" dirty="0"/>
          </a:p>
          <a:p>
            <a:r>
              <a:rPr lang="en-CA" dirty="0"/>
              <a:t>Sources for OpenStudio measures</a:t>
            </a:r>
          </a:p>
          <a:p>
            <a:r>
              <a:rPr lang="en-CA" dirty="0"/>
              <a:t>Measure writers are not omnipotent </a:t>
            </a:r>
          </a:p>
          <a:p>
            <a:r>
              <a:rPr lang="en-CA" dirty="0"/>
              <a:t>Example: multiple measures</a:t>
            </a:r>
          </a:p>
          <a:p>
            <a:r>
              <a:rPr lang="en-CA" dirty="0"/>
              <a:t>Example: create prototype </a:t>
            </a:r>
          </a:p>
          <a:p>
            <a:r>
              <a:rPr lang="en-CA" dirty="0"/>
              <a:t>Measure walkthrough &amp; OpenStudio-Standards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lvl="1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25733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Parametric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21319"/>
            <a:ext cx="10840914" cy="4580627"/>
          </a:xfrm>
        </p:spPr>
        <p:txBody>
          <a:bodyPr>
            <a:normAutofit lnSpcReduction="10000"/>
          </a:bodyPr>
          <a:lstStyle/>
          <a:p>
            <a:r>
              <a:rPr lang="en-CA" dirty="0"/>
              <a:t>Multiple ECMs and inputs </a:t>
            </a:r>
            <a:r>
              <a:rPr lang="en-CA" dirty="0">
                <a:sym typeface="Wingdings" panose="05000000000000000000" pitchFamily="2" charset="2"/>
              </a:rPr>
              <a:t> combinations</a:t>
            </a:r>
          </a:p>
          <a:p>
            <a:r>
              <a:rPr lang="en-CA" dirty="0">
                <a:sym typeface="Wingdings" panose="05000000000000000000" pitchFamily="2" charset="2"/>
              </a:rPr>
              <a:t>Small scale parametric study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Improve CCHT F’s envelope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A few ECMs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South WWR (0.35, 0.45, 0.55, 0.65)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Wall R-value (R-20, R-40, R-60)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OpenStudio App 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12 simulations in series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12 files in parallel </a:t>
            </a:r>
          </a:p>
          <a:p>
            <a:r>
              <a:rPr lang="en-CA" dirty="0">
                <a:sym typeface="Wingdings" panose="05000000000000000000" pitchFamily="2" charset="2"/>
              </a:rPr>
              <a:t>Parametric Analysis Tool 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1 file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12 alternatives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Example</a:t>
            </a:r>
          </a:p>
          <a:p>
            <a:endParaRPr lang="en-CA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466783"/>
              </p:ext>
            </p:extLst>
          </p:nvPr>
        </p:nvGraphicFramePr>
        <p:xfrm>
          <a:off x="7718988" y="2081718"/>
          <a:ext cx="3168353" cy="3276494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160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17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 #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WWR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Wall R-value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case_1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0.35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R-20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case_2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0.35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R-40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case_3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0.35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R-60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case_4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0.45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R-20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case_5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0.45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R-40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case_6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0.45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R-60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case_7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0.55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R-20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case_8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0.55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R-40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case_9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0.55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R-60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case_10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0.65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R-20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case_11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0.65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R-40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case_12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0.65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R-60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6" marR="6356" marT="6356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5605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Parametric Analysis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1"/>
            <a:ext cx="10840914" cy="4275826"/>
          </a:xfrm>
        </p:spPr>
        <p:txBody>
          <a:bodyPr>
            <a:normAutofit/>
          </a:bodyPr>
          <a:lstStyle/>
          <a:p>
            <a:r>
              <a:rPr lang="en-CA" dirty="0"/>
              <a:t>Large(r) scale analyses</a:t>
            </a:r>
          </a:p>
          <a:p>
            <a:pPr lvl="1"/>
            <a:r>
              <a:rPr lang="en-CA" dirty="0"/>
              <a:t>More than a few ECMs</a:t>
            </a:r>
          </a:p>
          <a:p>
            <a:pPr lvl="1"/>
            <a:r>
              <a:rPr lang="en-CA" dirty="0"/>
              <a:t>Investigating the performance of a system (as a measure)</a:t>
            </a:r>
          </a:p>
          <a:p>
            <a:pPr lvl="2"/>
            <a:r>
              <a:rPr lang="en-CA" dirty="0"/>
              <a:t>Vary building</a:t>
            </a:r>
          </a:p>
          <a:p>
            <a:pPr lvl="2"/>
            <a:r>
              <a:rPr lang="en-CA" dirty="0"/>
              <a:t>Vary location</a:t>
            </a:r>
          </a:p>
          <a:p>
            <a:pPr lvl="1"/>
            <a:r>
              <a:rPr lang="en-CA" dirty="0"/>
              <a:t>Retrofit portfolio of buildings</a:t>
            </a:r>
          </a:p>
          <a:p>
            <a:pPr lvl="2"/>
            <a:r>
              <a:rPr lang="en-CA" dirty="0"/>
              <a:t>Building type, location</a:t>
            </a:r>
          </a:p>
          <a:p>
            <a:pPr lvl="1"/>
            <a:r>
              <a:rPr lang="en-CA" dirty="0"/>
              <a:t>Automated optimization</a:t>
            </a:r>
          </a:p>
          <a:p>
            <a:pPr lvl="2"/>
            <a:r>
              <a:rPr lang="en-CA" dirty="0"/>
              <a:t>Full factorial experiment</a:t>
            </a:r>
          </a:p>
          <a:p>
            <a:pPr lvl="2"/>
            <a:r>
              <a:rPr lang="en-CA" dirty="0"/>
              <a:t>Particle swarm </a:t>
            </a:r>
          </a:p>
          <a:p>
            <a:pPr lvl="2"/>
            <a:r>
              <a:rPr lang="en-CA" dirty="0"/>
              <a:t>Genetic algorithm</a:t>
            </a:r>
          </a:p>
          <a:p>
            <a:pPr lvl="2"/>
            <a:endParaRPr lang="en-CA" dirty="0"/>
          </a:p>
          <a:p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007796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90500"/>
            <a:ext cx="10840914" cy="1260000"/>
          </a:xfrm>
        </p:spPr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85801" y="1214326"/>
            <a:ext cx="10667999" cy="5232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52352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buClrTx/>
              <a:buSzTx/>
              <a:buFont typeface="+mj-lt"/>
              <a:buAutoNum type="arabicPeriod"/>
            </a:pP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Fujitsu General . (2023). </a:t>
            </a:r>
            <a:r>
              <a:rPr kumimoji="0" lang="en-CA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Mini-Split?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Retrieved from Fujitsu General United States &amp; Canada: https://www.fujitsugeneral.com/us/residen</a:t>
            </a:r>
            <a:r>
              <a:rPr lang="en-CA" sz="1200" dirty="0">
                <a:latin typeface="Bookman Old Style" panose="02050604050505020204" pitchFamily="18" charset="0"/>
              </a:rPr>
              <a:t>GARD Analytics, &amp; University of Illinois. (</a:t>
            </a:r>
            <a:r>
              <a:rPr lang="en-CA" sz="1200" dirty="0" err="1">
                <a:latin typeface="Bookman Old Style" panose="02050604050505020204" pitchFamily="18" charset="0"/>
              </a:rPr>
              <a:t>n.d.</a:t>
            </a:r>
            <a:r>
              <a:rPr lang="en-CA" sz="1200" dirty="0">
                <a:latin typeface="Bookman Old Style" panose="02050604050505020204" pitchFamily="18" charset="0"/>
              </a:rPr>
              <a:t>). </a:t>
            </a:r>
            <a:r>
              <a:rPr lang="en-CA" sz="1200" i="1" dirty="0">
                <a:latin typeface="Bookman Old Style" panose="02050604050505020204" pitchFamily="18" charset="0"/>
              </a:rPr>
              <a:t>Lecture 07 Building Modeling Questions</a:t>
            </a:r>
            <a:r>
              <a:rPr lang="en-CA" sz="1200" dirty="0">
                <a:latin typeface="Bookman Old Style" panose="02050604050505020204" pitchFamily="18" charset="0"/>
              </a:rPr>
              <a:t>. </a:t>
            </a:r>
          </a:p>
          <a:p>
            <a:pPr defTabSz="914400">
              <a:buClrTx/>
              <a:buSzTx/>
              <a:buFont typeface="+mj-lt"/>
              <a:buAutoNum type="arabicPeriod"/>
            </a:pPr>
            <a:endParaRPr lang="en-CA" sz="1200" dirty="0">
              <a:latin typeface="Bookman Old Style" panose="02050604050505020204" pitchFamily="18" charset="0"/>
            </a:endParaRPr>
          </a:p>
          <a:p>
            <a:pPr defTabSz="914400">
              <a:buClrTx/>
              <a:buSzTx/>
              <a:buFont typeface="+mj-lt"/>
              <a:buAutoNum type="arabicPeriod"/>
            </a:pPr>
            <a:r>
              <a:rPr lang="en-CA" sz="1200" i="1" dirty="0">
                <a:latin typeface="Bookman Old Style" panose="02050604050505020204" pitchFamily="18" charset="0"/>
              </a:rPr>
              <a:t>EnergyPlus University Course Teaching Material</a:t>
            </a:r>
            <a:r>
              <a:rPr lang="en-CA" sz="1200" dirty="0">
                <a:latin typeface="Bookman Old Style" panose="02050604050505020204" pitchFamily="18" charset="0"/>
              </a:rPr>
              <a:t>. Retrieved from https://energyplus.net/assets/nrel_custom/eplus_files/university_course.zip. </a:t>
            </a:r>
          </a:p>
          <a:p>
            <a:pPr defTabSz="914400">
              <a:buClrTx/>
              <a:buSzTx/>
              <a:buFont typeface="+mj-lt"/>
              <a:buAutoNum type="arabicPeriod"/>
            </a:pPr>
            <a:endParaRPr lang="en-CA" sz="1200" dirty="0">
              <a:latin typeface="Bookman Old Style" panose="0205060405050502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CA" sz="1200" dirty="0">
                <a:latin typeface="Bookman Old Style" panose="02050604050505020204" pitchFamily="18" charset="0"/>
              </a:rPr>
              <a:t>Fujitsu General . (2023). </a:t>
            </a:r>
            <a:r>
              <a:rPr lang="en-CA" sz="1200" i="1" dirty="0">
                <a:latin typeface="Bookman Old Style" panose="02050604050505020204" pitchFamily="18" charset="0"/>
              </a:rPr>
              <a:t>What is a Mini-Split?</a:t>
            </a:r>
            <a:r>
              <a:rPr lang="en-CA" sz="1200" dirty="0">
                <a:latin typeface="Bookman Old Style" panose="02050604050505020204" pitchFamily="18" charset="0"/>
              </a:rPr>
              <a:t> Retrieved from Fujitsu General United States &amp; Canada: </a:t>
            </a:r>
            <a:r>
              <a:rPr lang="en-CA" sz="1200" dirty="0">
                <a:latin typeface="Bookman Old Style" panose="02050604050505020204" pitchFamily="18" charset="0"/>
                <a:hlinkClick r:id="rId2"/>
              </a:rPr>
              <a:t>https://www.fujitsugeneral.com/us/residential/what-is-a-mini-split.html</a:t>
            </a:r>
            <a:endParaRPr lang="en-CA" sz="1200" dirty="0">
              <a:latin typeface="Bookman Old Style" panose="02050604050505020204" pitchFamily="18" charset="0"/>
            </a:endParaRPr>
          </a:p>
          <a:p>
            <a:pPr>
              <a:buFont typeface="+mj-lt"/>
              <a:buAutoNum type="arabicPeriod"/>
            </a:pPr>
            <a:endParaRPr lang="en-CA" sz="1200" dirty="0">
              <a:latin typeface="Bookman Old Style" panose="02050604050505020204" pitchFamily="18" charset="0"/>
            </a:endParaRPr>
          </a:p>
          <a:p>
            <a:pPr defTabSz="914400">
              <a:buClrTx/>
              <a:buSzTx/>
              <a:buFont typeface="+mj-lt"/>
              <a:buAutoNum type="arabicPeriod"/>
            </a:pP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Mitsubishi Electric Sales Canada. (2021). </a:t>
            </a:r>
            <a:r>
              <a:rPr kumimoji="0" lang="en-CA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it works: Energy Recovery Ventilator Cores.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Markham: Mitsubishi Electric Sales Canada. Retrieved from 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https://www.mitsubishitechinfo.ca/sites/default/files/010_HiW%20Energy%20Recovery%20Cores.pdf</a:t>
            </a:r>
            <a:endParaRPr kumimoji="0" lang="en-CA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defTabSz="914400">
              <a:buClrTx/>
              <a:buSzTx/>
              <a:buFont typeface="+mj-lt"/>
              <a:buAutoNum type="arabicPeriod"/>
            </a:pPr>
            <a:endParaRPr kumimoji="0" lang="en-CA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defTabSz="914400">
              <a:buClrTx/>
              <a:buSzTx/>
              <a:buFont typeface="+mj-lt"/>
              <a:buAutoNum type="arabicPeriod"/>
            </a:pPr>
            <a:r>
              <a:rPr lang="en-CA" altLang="en-US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Morrison </a:t>
            </a:r>
            <a:r>
              <a:rPr lang="en-CA" altLang="en-US" sz="1200" dirty="0" err="1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Hershfield</a:t>
            </a:r>
            <a:r>
              <a:rPr lang="en-CA" altLang="en-US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(2018). Morrison-</a:t>
            </a:r>
            <a:r>
              <a:rPr lang="en-CA" altLang="en-US" sz="1200" dirty="0" err="1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Hershfield</a:t>
            </a:r>
            <a:r>
              <a:rPr lang="en-CA" altLang="en-US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Retrieved from </a:t>
            </a:r>
            <a:r>
              <a:rPr lang="en-CA" altLang="en-US" sz="12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https://www.bchydro.com/content/dam/BCHydro/customer-portal/documents/power-smart/builders-developers/building-envelope-thermal-bridging-guide-v1-6.pdf</a:t>
            </a:r>
            <a:endParaRPr lang="en-CA" altLang="en-US" sz="1200" dirty="0"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defTabSz="914400">
              <a:buClrTx/>
              <a:buSzTx/>
              <a:buFont typeface="+mj-lt"/>
              <a:buAutoNum type="arabicPeriod"/>
            </a:pPr>
            <a:endParaRPr lang="en-CA" altLang="en-US" sz="1200" dirty="0"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defTabSz="914400">
              <a:buClrTx/>
              <a:buSzTx/>
              <a:buFont typeface="+mj-lt"/>
              <a:buAutoNum type="arabicPeriod"/>
            </a:pPr>
            <a:r>
              <a:rPr lang="en-CA" sz="1200" dirty="0">
                <a:latin typeface="Bookman Old Style" panose="02050604050505020204" pitchFamily="18" charset="0"/>
              </a:rPr>
              <a:t>Payette. (2018, November 7). </a:t>
            </a:r>
            <a:r>
              <a:rPr lang="en-CA" sz="1200" i="1" dirty="0">
                <a:latin typeface="Bookman Old Style" panose="02050604050505020204" pitchFamily="18" charset="0"/>
              </a:rPr>
              <a:t>Energy modeling and the whole building approach to energy efficiency</a:t>
            </a:r>
            <a:r>
              <a:rPr lang="en-CA" sz="1200" dirty="0">
                <a:latin typeface="Bookman Old Style" panose="02050604050505020204" pitchFamily="18" charset="0"/>
              </a:rPr>
              <a:t>. Energy Modeling and the Whole Building Approach to Energy Efficiency. Retrieved February 19, 2023, from https://www.payette.com/news/energy-modeling-and-the-whole-building-approach-to-energy-efficiency/ </a:t>
            </a:r>
          </a:p>
          <a:p>
            <a:pPr defTabSz="914400">
              <a:buClrTx/>
              <a:buSzTx/>
              <a:buFont typeface="+mj-lt"/>
              <a:buAutoNum type="arabicPeriod"/>
            </a:pPr>
            <a:endParaRPr lang="en-CA" sz="1200" dirty="0">
              <a:latin typeface="Bookman Old Style" panose="02050604050505020204" pitchFamily="18" charset="0"/>
            </a:endParaRPr>
          </a:p>
          <a:p>
            <a:pPr defTabSz="914400">
              <a:buClrTx/>
              <a:buSzTx/>
              <a:buFont typeface="+mj-lt"/>
              <a:buAutoNum type="arabicPeriod"/>
            </a:pP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Petro Home Services. (2023). </a:t>
            </a:r>
            <a:r>
              <a:rPr kumimoji="0" lang="en-CA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HVAC Packaged Unit vs. Split System: Differences, benefits, and how to choose.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Retrieved from Petro Home Services: 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https://www.petro.com/resource-center/hvac-packaged-unit-vs-split-system</a:t>
            </a:r>
            <a:endParaRPr kumimoji="0" lang="en-CA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defTabSz="914400">
              <a:buClrTx/>
              <a:buSzTx/>
              <a:buFont typeface="+mj-lt"/>
              <a:buAutoNum type="arabicPeriod"/>
            </a:pPr>
            <a:endParaRPr kumimoji="0" lang="en-CA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defTabSz="914400">
              <a:buClrTx/>
              <a:buSzTx/>
              <a:buFont typeface="+mj-lt"/>
              <a:buAutoNum type="arabicPeriod"/>
            </a:pP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 tube. (2017, September 26). Fundamentals of Energy Recovery Ventilators (ERVs) [Video]. US: </a:t>
            </a:r>
            <a:r>
              <a:rPr kumimoji="0" lang="en-CA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Youtube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Retrieved from 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https://www.youtube.com/watch?v=QOSelUK6dpQ&amp;t=100s</a:t>
            </a:r>
            <a:endParaRPr kumimoji="0" lang="en-CA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defTabSz="914400">
              <a:buClrTx/>
              <a:buSzTx/>
              <a:buFont typeface="+mj-lt"/>
              <a:buAutoNum type="arabicPeriod"/>
            </a:pPr>
            <a:endParaRPr kumimoji="0" lang="en-CA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defTabSz="914400">
              <a:buClrTx/>
              <a:buSzTx/>
              <a:buFont typeface="+mj-lt"/>
              <a:buAutoNum type="arabicPeriod"/>
            </a:pP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U.S. Department of Energy. (2021). </a:t>
            </a:r>
            <a:r>
              <a:rPr kumimoji="0" lang="en-CA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EnergyPlus Version 9.6.0 Documentation: Input Output Reference.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NREL.</a:t>
            </a:r>
            <a:endParaRPr kumimoji="0" lang="en-CA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86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2736411_Famous event in history presentation_AAS_v4" id="{885A6F1E-651B-4F15-A7C5-F8866BEBEDBA}" vid="{A424914B-CB64-4CFE-A131-6ACB64D36A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96277B9-27DA-47CA-9593-62E4BB44AB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C25A74-1E0C-4362-AFA3-6197BD285F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C94942-C689-461B-8649-1FD863C6BA2B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Famous event in history presentation</Template>
  <TotalTime>0</TotalTime>
  <Words>2714</Words>
  <Application>Microsoft Office PowerPoint</Application>
  <PresentationFormat>Widescreen</PresentationFormat>
  <Paragraphs>535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Bookman Old Style</vt:lpstr>
      <vt:lpstr>Calibri</vt:lpstr>
      <vt:lpstr>Cambria Math</vt:lpstr>
      <vt:lpstr>Century Gothic</vt:lpstr>
      <vt:lpstr>Celestial</vt:lpstr>
      <vt:lpstr>An introduction to openstudio and energyplus</vt:lpstr>
      <vt:lpstr>Who am I?</vt:lpstr>
      <vt:lpstr>The Goal of this Workshop</vt:lpstr>
      <vt:lpstr>Overview</vt:lpstr>
      <vt:lpstr>BEM and BPS</vt:lpstr>
      <vt:lpstr>When to….</vt:lpstr>
      <vt:lpstr>BPS Tools: EnergyPlus &amp; OpenStudio </vt:lpstr>
      <vt:lpstr>BPM Tools: EnergyPlus &amp; OpenStudio</vt:lpstr>
      <vt:lpstr>General procedures for modelling buildings</vt:lpstr>
      <vt:lpstr>Zoning (thermal zones)</vt:lpstr>
      <vt:lpstr>Zoning (thermal zones)</vt:lpstr>
      <vt:lpstr>Zoning (thermal zones)</vt:lpstr>
      <vt:lpstr>Simulation Parameters</vt:lpstr>
      <vt:lpstr>Exercise: Let’s sketchup our building</vt:lpstr>
      <vt:lpstr>building envelope</vt:lpstr>
      <vt:lpstr>Air Leakage</vt:lpstr>
      <vt:lpstr>Air Leakage </vt:lpstr>
      <vt:lpstr>Exercise: Air leakage modelling</vt:lpstr>
      <vt:lpstr>Openstudio exercise: envelope </vt:lpstr>
      <vt:lpstr>Internal Loads in OpenStudio</vt:lpstr>
      <vt:lpstr>Sources for internal gain data</vt:lpstr>
      <vt:lpstr>Schedules in Openstudio</vt:lpstr>
      <vt:lpstr>OpenStudio Exercise: Internal Loads</vt:lpstr>
      <vt:lpstr>An Overview of HVAC systems and equipment</vt:lpstr>
      <vt:lpstr>An Overview of HVAC systems and equipment</vt:lpstr>
      <vt:lpstr>An Overview of HVAC systems and equipment</vt:lpstr>
      <vt:lpstr>An Overview of HVAC systems and equipment</vt:lpstr>
      <vt:lpstr>OpensTudio HVAC</vt:lpstr>
      <vt:lpstr>Ventilation: HRV &amp; ERV</vt:lpstr>
      <vt:lpstr>Ventilation: HRV</vt:lpstr>
      <vt:lpstr>Ventilation: ERV</vt:lpstr>
      <vt:lpstr>Examples of HVAC systems</vt:lpstr>
      <vt:lpstr>Openstudio exercise: HVAC + DHW</vt:lpstr>
      <vt:lpstr>Things to be mindful of</vt:lpstr>
      <vt:lpstr>Openstudio (EnergyPlus) Results</vt:lpstr>
      <vt:lpstr>BEM and Standards/Guidelines</vt:lpstr>
      <vt:lpstr>OpenStudio references and help</vt:lpstr>
      <vt:lpstr>Energy Conservation Measures (ECM)</vt:lpstr>
      <vt:lpstr>Applying ECM in Openstudio</vt:lpstr>
      <vt:lpstr>OpenStudio measures</vt:lpstr>
      <vt:lpstr>Parametric Study</vt:lpstr>
      <vt:lpstr>Parametric Analysis Tool</vt:lpstr>
      <vt:lpstr>References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2023-02-16T16:06:53Z</dcterms:created>
  <dcterms:modified xsi:type="dcterms:W3CDTF">2026-03-05T22:41:17Z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